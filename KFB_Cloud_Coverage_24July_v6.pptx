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40"/>
    <p:sldId id="286" r:id="rId41"/>
    <p:sldId id="287" r:id="rId42"/>
  </p:sldIdLst>
  <p:sldSz cy="6858000" cx="12192000"/>
  <p:notesSz cx="6858000" cy="9144000"/>
  <p:embeddedFontLst>
    <p:embeddedFont>
      <p:font typeface="Helvetica Neu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jsfkl/kYYnY3W7cxQU1v0sPqzl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font" Target="fonts/HelveticaNeue-regular.fntdata"/><Relationship Id="rId36" Type="http://schemas.openxmlformats.org/officeDocument/2006/relationships/font" Target="fonts/HelveticaNeue-bold.fntdata"/><Relationship Id="rId37" Type="http://schemas.openxmlformats.org/officeDocument/2006/relationships/font" Target="fonts/HelveticaNeue-italic.fntdata"/><Relationship Id="rId38" Type="http://schemas.openxmlformats.org/officeDocument/2006/relationships/font" Target="fonts/HelveticaNeue-boldItalic.fntdata"/><Relationship Id="rId39" Type="http://customschemas.google.com/relationships/presentationmetadata" Target="metadata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heuristic.py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hko.gov.hk/en/wxinfo/ts/index_webcam.htm" TargetMode="Externa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do the labeling at  src/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heuristic.py</a:t>
            </a:r>
            <a:r>
              <a:rPr lang="en-US"/>
              <a:t> ?  do you need some ‘weather observer’  expertise on analysing the weather photos?</a:t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you do the spot-check for the 3497 images?  how many photos were checked?  </a:t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you show the 17 + 18 case out of the 3K photos  that  seem the tool may mis-interpret  the photo?</a:t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 u do the same training for other hill top weather camera 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https://www.hko.gov.hk/en/wxinfo/ts/index_webcam.htm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victoria peak (2 view angles) (700m amsl)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Tai Mo Shan (2 view angles)  (900m amsl)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US" sz="1500">
                <a:solidFill>
                  <a:schemeClr val="dk1"/>
                </a:solidFill>
                <a:highlight>
                  <a:srgbClr val="FFFFFF"/>
                </a:highlight>
              </a:rPr>
              <a:t>Kowloon City</a:t>
            </a:r>
            <a:r>
              <a:rPr lang="en-US">
                <a:solidFill>
                  <a:schemeClr val="dk1"/>
                </a:solidFill>
              </a:rPr>
              <a:t>  （1 view angle) (100m amsl)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500">
                <a:solidFill>
                  <a:schemeClr val="dk1"/>
                </a:solidFill>
                <a:highlight>
                  <a:srgbClr val="FFFFFF"/>
                </a:highlight>
              </a:rPr>
              <a:t>Kau Sai Chau</a:t>
            </a:r>
            <a:r>
              <a:rPr lang="en-US">
                <a:solidFill>
                  <a:schemeClr val="dk1"/>
                </a:solidFill>
              </a:rPr>
              <a:t>  (1 view angle) (100m amsl)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you may also cross-check with the RH recorded in the surrounding areas of the wx photo site  e.g. RH over 90-95% as a screening criteria.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9597dc3c1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9597dc3c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597dc3c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9597dc3c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9597dc3c1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9597dc3c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9597dc3c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9597dc3c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9597dc3c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9597dc3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9597dc3c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9597dc3c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597dc3c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9597dc3c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9597dc3c1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9597dc3c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9597dc3c1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9597dc3c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9597dc3c1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9597dc3c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9597dc3c1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9597dc3c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9597dc3c1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9597dc3c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5e5474a1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5e5474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9597dc3c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9597dc3c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9597dc3c1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9597dc3c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5e5474a1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5e5474a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5e5474a19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5e5474a1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5e5474a1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f5e5474a1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7.jpg"/><Relationship Id="rId5" Type="http://schemas.openxmlformats.org/officeDocument/2006/relationships/image" Target="../media/image13.jpg"/><Relationship Id="rId6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7.jpg"/><Relationship Id="rId5" Type="http://schemas.openxmlformats.org/officeDocument/2006/relationships/image" Target="../media/image13.jpg"/><Relationship Id="rId6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hko.gov.hk/en/wxinfo/ts/webcam/KFB_photo.ht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hko.gov.hk/en/wxinfo/ts/index_webcam.ht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ver.jp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914400" y="2011680"/>
            <a:ext cx="103327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Estimating cloud base from a hill weather-camera photo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Kadoorie Farm photo (camera at ~150 m) → day/night → inside cloud? → cloud-base message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overview · July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&amp; Motivation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Drone pilots need cloud-base height, but Hong Kong has few direct observations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40080" y="1417320"/>
            <a:ext cx="6400800" cy="123444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14400" y="1563624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Regulatory need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 drone rules require pilots to know the approximate cloud-base height.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640080" y="2880360"/>
            <a:ext cx="6400800" cy="123444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14400" y="3026664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Observation gap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Hong Kong has almost no public, real-time direct measurements of cloud base.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640080" y="4343400"/>
            <a:ext cx="6400800" cy="123444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914400" y="4489704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Existing asset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HKO operates hill weather cameras at known altitudes — e.g. Kadoorie Farm (KFB) at ~150 m.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315200" y="1417320"/>
            <a:ext cx="4297680" cy="4160520"/>
          </a:xfrm>
          <a:prstGeom prst="roundRect">
            <a:avLst>
              <a:gd fmla="val 600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589520" y="1645920"/>
            <a:ext cx="3749039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inference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Camera is inside cloud (whiteout, distant view lost)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cloud base ≤ 150 m (camera altitude)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Camera is not inside cloud (distant view clear)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E8B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cloud base &gt; 150 m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Turn an existing webcam into a cloud-base sensor — no new hardware.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/ 11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Idea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radar, no new hardware — just the visual cues in the photo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40080" y="1371600"/>
            <a:ext cx="5486400" cy="470916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14400" y="153619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Daytime cues</a:t>
            </a:r>
            <a:endParaRPr/>
          </a:p>
        </p:txBody>
      </p:sp>
      <p:pic>
        <p:nvPicPr>
          <p:cNvPr descr="imgKFB_160106_1115.jp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57400"/>
            <a:ext cx="4937760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914400" y="36576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E8B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Clear: valley, towns and distant hills all visible</a:t>
            </a:r>
            <a:endParaRPr/>
          </a:p>
        </p:txBody>
      </p:sp>
      <p:pic>
        <p:nvPicPr>
          <p:cNvPr descr="imgKFB_160105_1150.jpg" id="113" name="Google Shape;1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4041648"/>
            <a:ext cx="4937760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914400" y="56418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cloud: uniform whiteout, distant texture gone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446520" y="1371600"/>
            <a:ext cx="5486400" cy="470916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720840" y="153619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Nighttime cues</a:t>
            </a:r>
            <a:endParaRPr/>
          </a:p>
        </p:txBody>
      </p:sp>
      <p:pic>
        <p:nvPicPr>
          <p:cNvPr descr="imgKFB_160101_0100.jpg" id="117" name="Google Shape;11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2057400"/>
            <a:ext cx="4937760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6720840" y="36576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E8B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Clear: valley lights clearly visible</a:t>
            </a:r>
            <a:endParaRPr/>
          </a:p>
        </p:txBody>
      </p:sp>
      <p:pic>
        <p:nvPicPr>
          <p:cNvPr descr="imgKFB_160103_0320.jpg" id="119" name="Google Shape;1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0840" y="4041648"/>
            <a:ext cx="4937760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6720840" y="56418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cloud: lights swallowed by fog, uniformly dark frame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/ 11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Pipeline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Classical image features + a lightweight model, fully automated end to end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02920" y="1554480"/>
            <a:ext cx="2331720" cy="960120"/>
          </a:xfrm>
          <a:prstGeom prst="chevron">
            <a:avLst>
              <a:gd fmla="val 50000" name="adj"/>
            </a:avLst>
          </a:prstGeom>
          <a:solidFill>
            <a:srgbClr val="2F80B9"/>
          </a:solidFill>
          <a:ln>
            <a:noFill/>
          </a:ln>
        </p:spPr>
        <p:txBody>
          <a:bodyPr anchorCtr="0" anchor="ctr" bIns="45700" lIns="120000" spcFirstLastPara="1" rIns="6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input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3,497 KFB photos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761488" y="1554480"/>
            <a:ext cx="2331720" cy="960120"/>
          </a:xfrm>
          <a:prstGeom prst="chevron">
            <a:avLst>
              <a:gd fmla="val 50000" name="adj"/>
            </a:avLst>
          </a:prstGeom>
          <a:solidFill>
            <a:srgbClr val="2F80B9"/>
          </a:solidFill>
          <a:ln>
            <a:noFill/>
          </a:ln>
        </p:spPr>
        <p:txBody>
          <a:bodyPr anchorCtr="0" anchor="ctr" bIns="45700" lIns="120000" spcFirstLastPara="1" rIns="6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extraction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brightness / edges / saturation…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020056" y="1554480"/>
            <a:ext cx="2331720" cy="960120"/>
          </a:xfrm>
          <a:prstGeom prst="chevron">
            <a:avLst>
              <a:gd fmla="val 50000" name="adj"/>
            </a:avLst>
          </a:prstGeom>
          <a:solidFill>
            <a:srgbClr val="2F80B9"/>
          </a:solidFill>
          <a:ln>
            <a:noFill/>
          </a:ln>
        </p:spPr>
        <p:txBody>
          <a:bodyPr anchorCtr="0" anchor="ctr" bIns="45700" lIns="120000" spcFirstLastPara="1" rIns="6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Heuristic auto-label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labels.csv, human-editable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7278624" y="1554480"/>
            <a:ext cx="2331720" cy="960120"/>
          </a:xfrm>
          <a:prstGeom prst="chevron">
            <a:avLst>
              <a:gd fmla="val 50000" name="adj"/>
            </a:avLst>
          </a:prstGeom>
          <a:solidFill>
            <a:srgbClr val="2F80B9"/>
          </a:solidFill>
          <a:ln>
            <a:noFill/>
          </a:ln>
        </p:spPr>
        <p:txBody>
          <a:bodyPr anchorCtr="0" anchor="ctr" bIns="45700" lIns="120000" spcFirstLastPara="1" rIns="6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 classifier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logistic regression + scaler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537192" y="1554480"/>
            <a:ext cx="2331720" cy="960120"/>
          </a:xfrm>
          <a:prstGeom prst="chevron">
            <a:avLst>
              <a:gd fmla="val 50000" name="adj"/>
            </a:avLst>
          </a:prstGeom>
          <a:solidFill>
            <a:srgbClr val="2F80B9"/>
          </a:solidFill>
          <a:ln>
            <a:noFill/>
          </a:ln>
        </p:spPr>
        <p:txBody>
          <a:bodyPr anchorCtr="0" anchor="ctr" bIns="45700" lIns="120000" spcFirstLastPara="1" rIns="6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9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cloud-base message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640080" y="2926080"/>
            <a:ext cx="10972800" cy="320040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14400" y="3108960"/>
            <a:ext cx="10424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layout (each file does one job)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src/features.py</a:t>
            </a: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load image, crop the timestamp banner, extract 10 features, decide day/night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src/heuristic.py</a:t>
            </a: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visual rules produce seed labels (inside_cloud / not_inside)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src/auto_label.py</a:t>
            </a: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scan every photo in image/, write data/labels.csv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src/train.py</a:t>
            </a: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80/20 split by date, train logistic regression, export a tiny JSON model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src/predict.py</a:t>
            </a: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single/batch inference, print the fixed message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src/web.py + docs/</a:t>
            </a: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Flask server variant and the GitHub Pages in-browser variant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/ 11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Engineering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Crop the timestamp banner (top 8%), resize to 640 px long side — identical to the browser Canvas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40080" y="1554480"/>
            <a:ext cx="4983480" cy="210312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96112" y="1719072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Overall appearance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Brightness mean / std (whiteout → high mean, low variance)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Saturation mean (inside cloud looks grey, low saturation)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Edge density (Laplacian; little texture inside cloud)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852160" y="1554480"/>
            <a:ext cx="4983480" cy="210312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108192" y="1719072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Spatial structure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Upper vs lower half contrast (is the far scene washed out?)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Far-field gradient far_grad (excludes bottom 28% trees)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Far-field washout ratio far_wash and std far_std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40080" y="3886200"/>
            <a:ext cx="4983480" cy="2103120"/>
          </a:xfrm>
          <a:prstGeom prst="roundRect">
            <a:avLst>
              <a:gd fmla="val 600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896112" y="4050792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Night-specific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Bright-spot ratio bright_spot_ratio (valley lights)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No lights + uniform frame → lean inside_cloud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852160" y="3886200"/>
            <a:ext cx="4983480" cy="210312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108192" y="4050792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Day/night decision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Image brightness only: mean ≥ 80 means day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No dependence on filename time → works for any photo source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/ 11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&amp; Auto-Labeling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Heuristic rules label everything first; humans only spot-check — no hand-labeling 3,497 photos</a:t>
            </a:r>
            <a:endParaRPr/>
          </a:p>
        </p:txBody>
      </p:sp>
      <p:pic>
        <p:nvPicPr>
          <p:cNvPr descr="distribution.png"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00200"/>
            <a:ext cx="6035040" cy="33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6858000" y="1554480"/>
            <a:ext cx="4800600" cy="448056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7132320" y="1755648"/>
            <a:ext cx="4251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Labeling workflow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python -m src.auto_label scans all photos and applies the visual rules as seed labels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Output goes to data/labels.csv (with all feature values; edit the label column to correct)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src/sample_review.py prints stratified samples (day/night × in/out of cloud) for an eye check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Retrain after corrections — labeling cost stays tiny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heuristic rule (daytime)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303C"/>
                </a:solidFill>
                <a:latin typeface="Arial"/>
                <a:ea typeface="Arial"/>
                <a:cs typeface="Arial"/>
                <a:sym typeface="Arial"/>
              </a:rPr>
              <a:t>far_wash &gt;= 0.60 and far_grad &lt;= 5.0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far field mostly washed out with almost no texture → inside cloud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 / 11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&amp; Evaluation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Logistic regression (StandardScaler + class_weight=balanced), split by date to avoid same-day leakage</a:t>
            </a:r>
            <a:endParaRPr/>
          </a:p>
        </p:txBody>
      </p:sp>
      <p:pic>
        <p:nvPicPr>
          <p:cNvPr descr="confusion.png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4582159" cy="3749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atures.png" id="172" name="Google Shape;1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600200"/>
            <a:ext cx="6873238" cy="374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640080" y="5532120"/>
            <a:ext cx="10972800" cy="777240"/>
          </a:xfrm>
          <a:prstGeom prst="roundRect">
            <a:avLst>
              <a:gd fmla="val 6000" name="adj"/>
            </a:avLst>
          </a:prstGeom>
          <a:solidFill>
            <a:srgbClr val="E6F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914400" y="566928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accuracy 92.4% (458 images from held-out dates). Weights match intuition: high brightness variance, more edges and higher saturation all push toward not_inside.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 / 11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Examples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 outputs for four scenarios (python -m src.predict)</a:t>
            </a:r>
            <a:endParaRPr/>
          </a:p>
        </p:txBody>
      </p:sp>
      <p:pic>
        <p:nvPicPr>
          <p:cNvPr descr="imgKFB_160106_1115.jpg"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17320"/>
            <a:ext cx="310896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3886200" y="150876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Day · clear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I am not inside cloud. Cloud base above 150 m.</a:t>
            </a:r>
            <a:endParaRPr/>
          </a:p>
        </p:txBody>
      </p:sp>
      <p:pic>
        <p:nvPicPr>
          <p:cNvPr descr="imgKFB_160105_1150.jpg" id="185" name="Google Shape;1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417320"/>
            <a:ext cx="310896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/>
          <p:nvPr/>
        </p:nvSpPr>
        <p:spPr>
          <a:xfrm>
            <a:off x="9646920" y="150876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Day · in cloud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Camera is inside cloud (day). Cloud base at or below ~150 m.</a:t>
            </a:r>
            <a:endParaRPr/>
          </a:p>
        </p:txBody>
      </p:sp>
      <p:pic>
        <p:nvPicPr>
          <p:cNvPr descr="imgKFB_160101_0100.jpg" id="187" name="Google Shape;1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931920"/>
            <a:ext cx="310896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 txBox="1"/>
          <p:nvPr/>
        </p:nvSpPr>
        <p:spPr>
          <a:xfrm>
            <a:off x="3886200" y="402336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Night · clear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I am not inside cloud. Cloud base above 150 m.</a:t>
            </a:r>
            <a:endParaRPr/>
          </a:p>
        </p:txBody>
      </p:sp>
      <p:pic>
        <p:nvPicPr>
          <p:cNvPr descr="imgKFB_160103_0320.jpg" id="189" name="Google Shape;18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3931920"/>
            <a:ext cx="3108960" cy="1746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9646920" y="402336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Night · in cloud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F80B9"/>
                </a:solidFill>
                <a:latin typeface="Arial"/>
                <a:ea typeface="Arial"/>
                <a:cs typeface="Arial"/>
                <a:sym typeface="Arial"/>
              </a:rPr>
              <a:t>Camera is inside cloud (night). Cloud base at or below ~150 m.</a:t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 / 11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Deployment Strategy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rule set, three runtimes, identical results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40080" y="1463040"/>
            <a:ext cx="3611880" cy="4480560"/>
          </a:xfrm>
          <a:prstGeom prst="roundRect">
            <a:avLst>
              <a:gd fmla="val 600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896112" y="1691640"/>
            <a:ext cx="31089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Pages (primary)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Static site in docs/; app.js computes in the visitor's browser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Photos never leave the user's device → privacy-friendly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Zero server cost, no OOM — anyone with the link can use it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434840" y="1463040"/>
            <a:ext cx="3611880" cy="448056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4690872" y="1691640"/>
            <a:ext cx="31089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Render / Flask (fallback)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src/web.py: Flask + waitress, single thread to save memory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BLAS threads and upload size capped (8 MB) for the free tier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Dockerfile included — portable to any container platform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8229600" y="1463040"/>
            <a:ext cx="3611880" cy="448056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8485632" y="1691640"/>
            <a:ext cx="31089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 (development)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python -m src.predict photo.jpg prints the message directly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auto_label / train / sample_review are all one-liners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Model exports to a tiny JSON (weights + intercept) readable in JS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Python and JavaScript feature code is deliberately aligned line by line (same resize, crop and formulas), so all three runtimes agree.</a:t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 / 11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Engineering Practices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small project run with a proper process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40080" y="1463040"/>
            <a:ext cx="10972800" cy="105156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914400" y="1572768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Test-driven development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Failing tests first, then implementation: message format, day/night, feature shape and heuristic rules each have unit tests, plus an end-to-end smoke test on real images.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640080" y="2670048"/>
            <a:ext cx="10972800" cy="105156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914400" y="2779776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data leakage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Train/test split is by date, so photos from the same day never appear on both sides — frames five minutes apart are nearly identical.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40080" y="3877056"/>
            <a:ext cx="10972800" cy="105156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914400" y="3986784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 and plan first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docs/superpowers/ holds the design spec (goals, non-goals, success criteria) and a step-by-step implementation plan, reviewed before coding.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40080" y="5084064"/>
            <a:ext cx="10972800" cy="1051560"/>
          </a:xfrm>
          <a:prstGeom prst="roundRect">
            <a:avLst>
              <a:gd fmla="val 6000" name="adj"/>
            </a:avLst>
          </a:prstGeom>
          <a:solidFill>
            <a:srgbClr val="F2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914400" y="5193792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80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Deliberate non-goals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 skips CNNs, humidity fusion, multi-site cameras and continuous cloud-base regression — make the simplest version useful first.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/ 11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80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731520" y="274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&amp; Future Work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640080" y="1463040"/>
            <a:ext cx="5486400" cy="4480560"/>
          </a:xfrm>
          <a:prstGeom prst="roundRect">
            <a:avLst>
              <a:gd fmla="val 6000" name="adj"/>
            </a:avLst>
          </a:prstGeom>
          <a:solidFill>
            <a:srgbClr val="E6F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914400" y="1691640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Fully automated pipeline: 3,497 photos → labels → training → inference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Works day and night, emitting two fixed cloud-base messages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92.4% test accuracy, validated on held-out dates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Live on GitHub Pages — anyone can use it, photos stay on-device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Unit tests + smoke test all green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6400800" y="1463040"/>
            <a:ext cx="5257800" cy="4480560"/>
          </a:xfrm>
          <a:prstGeom prst="roundRect">
            <a:avLst>
              <a:gd fmla="val 6000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6675120" y="1691640"/>
            <a:ext cx="4709160" cy="2387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work (v2+)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Fuse relative humidity (RH) and other weather data for reliability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Combine altitudes to upgrade from a binary call to a cloud-base height range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Consider a lightweight CNN only if classical features plateau on corrected labels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30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Collect data across seasons to handle rain and haze confounders</a:t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A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photo, one answer: is the cloud base above or below 150 metres?</a:t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KFB Cloud Coverage</a:t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1115568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708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 /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9597dc3c1_0_55"/>
          <p:cNvSpPr txBox="1"/>
          <p:nvPr/>
        </p:nvSpPr>
        <p:spPr>
          <a:xfrm>
            <a:off x="447675" y="990600"/>
            <a:ext cx="10791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try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your tool to auto estimate the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base height of KFBG from all photos as viewed from 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https://www.hko.gov.hk/en/wxinfo/ts/webcam/KFB_photo.htm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9597dc3c1_0_3"/>
          <p:cNvSpPr txBox="1"/>
          <p:nvPr/>
        </p:nvSpPr>
        <p:spPr>
          <a:xfrm>
            <a:off x="609575" y="388600"/>
            <a:ext cx="9829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learning to check cloud base height with photos,  see if you can explore to ‘estimate’ the minimum horizontal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visibility as viewed from some weather photo site. i will provide too GROUND truth for your validation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9597dc3c1_0_51"/>
          <p:cNvSpPr txBox="1"/>
          <p:nvPr/>
        </p:nvSpPr>
        <p:spPr>
          <a:xfrm>
            <a:off x="518150" y="502900"/>
            <a:ext cx="10797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be reminded that we do not need to determine VERY detail/precisely the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 km/m).  we need only to tell 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be the minimum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seen from the photo view ?  we care on  300m, 500m,1km,3km,5km.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rgbClr val="2E8B57"/>
                </a:highlight>
                <a:latin typeface="Calibri"/>
                <a:ea typeface="Calibri"/>
                <a:cs typeface="Calibri"/>
                <a:sym typeface="Calibri"/>
              </a:rPr>
              <a:t>e.g. AI </a:t>
            </a:r>
            <a:r>
              <a:rPr lang="en-US" sz="3200">
                <a:solidFill>
                  <a:schemeClr val="dk1"/>
                </a:solidFill>
                <a:highlight>
                  <a:srgbClr val="2E8B57"/>
                </a:highlight>
                <a:latin typeface="Calibri"/>
                <a:ea typeface="Calibri"/>
                <a:cs typeface="Calibri"/>
                <a:sym typeface="Calibri"/>
              </a:rPr>
              <a:t>estimate</a:t>
            </a:r>
            <a:r>
              <a:rPr lang="en-US" sz="3200">
                <a:solidFill>
                  <a:schemeClr val="dk1"/>
                </a:solidFill>
                <a:highlight>
                  <a:srgbClr val="2E8B57"/>
                </a:highlight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US" sz="3200">
                <a:solidFill>
                  <a:schemeClr val="dk1"/>
                </a:solidFill>
                <a:highlight>
                  <a:srgbClr val="2E8B57"/>
                </a:highlight>
                <a:latin typeface="Calibri"/>
                <a:ea typeface="Calibri"/>
                <a:cs typeface="Calibri"/>
                <a:sym typeface="Calibri"/>
              </a:rPr>
              <a:t>visibility</a:t>
            </a:r>
            <a:r>
              <a:rPr lang="en-US" sz="3200">
                <a:solidFill>
                  <a:schemeClr val="dk1"/>
                </a:solidFill>
                <a:highlight>
                  <a:srgbClr val="2E8B57"/>
                </a:highlight>
                <a:latin typeface="Calibri"/>
                <a:ea typeface="Calibri"/>
                <a:cs typeface="Calibri"/>
                <a:sym typeface="Calibri"/>
              </a:rPr>
              <a:t> here is at least  ‘ 500m/1km..’ .</a:t>
            </a:r>
            <a:endParaRPr sz="3200">
              <a:solidFill>
                <a:schemeClr val="dk1"/>
              </a:solidFill>
              <a:highlight>
                <a:srgbClr val="2E8B57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3f9597dc3c1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20785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f9597dc3c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8541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f9597dc3c1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97115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f9597dc3c1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11604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f9597dc3c1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34106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3f9597dc3c1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4078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g3f9597dc3c1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82170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g3f9597dc3c1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19272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5e5474a19_0_0"/>
          <p:cNvSpPr txBox="1"/>
          <p:nvPr/>
        </p:nvSpPr>
        <p:spPr>
          <a:xfrm>
            <a:off x="248650" y="1334450"/>
            <a:ext cx="1183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cloud based height estimation across HK border, is it possible to do the same training as you did for ‘KFBG’ for other hill-weather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5e5474a19_0_0"/>
          <p:cNvSpPr txBox="1"/>
          <p:nvPr/>
        </p:nvSpPr>
        <p:spPr>
          <a:xfrm>
            <a:off x="2836800" y="113150"/>
            <a:ext cx="651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cloud base height estimation ..</a:t>
            </a:r>
            <a:endParaRPr b="1"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5e5474a19_0_0"/>
          <p:cNvSpPr txBox="1"/>
          <p:nvPr/>
        </p:nvSpPr>
        <p:spPr>
          <a:xfrm>
            <a:off x="113150" y="3100800"/>
            <a:ext cx="609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https://www.hko.gov.hk/en/wxinfo/ts/index_webcam.htm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f9597dc3c1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9058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3f9597dc3c1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4463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f5e5474a19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274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f5e5474a19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9875" y="3116799"/>
            <a:ext cx="5739439" cy="3651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5e5474a19_0_13"/>
          <p:cNvSpPr txBox="1"/>
          <p:nvPr/>
        </p:nvSpPr>
        <p:spPr>
          <a:xfrm>
            <a:off x="787000" y="211175"/>
            <a:ext cx="1045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providing you the original weather photos from these weather stations, can you also do the auto - cloud cover/not    identification 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3f5e5474a19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150" y="2037200"/>
            <a:ext cx="5312402" cy="467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f5e5474a19_0_13"/>
          <p:cNvSpPr txBox="1"/>
          <p:nvPr/>
        </p:nvSpPr>
        <p:spPr>
          <a:xfrm>
            <a:off x="5341550" y="2817900"/>
            <a:ext cx="6518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the auto-determination at the same pages for other wx station.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75C"/>
                </a:solidFill>
              </a:rPr>
              <a:t>New Feature: Visibility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22222"/>
                </a:solidFill>
              </a:rPr>
              <a:t>Requested on slide 14: estimate minimum visibility from the photo.</a:t>
            </a:r>
          </a:p>
          <a:p>
            <a:pPr>
              <a:spcAft>
                <a:spcPts val="600"/>
              </a:spcAft>
            </a:pPr>
          </a:p>
          <a:p>
            <a:r>
              <a:rPr sz="1800">
                <a:solidFill>
                  <a:srgbClr val="222222"/>
                </a:solidFill>
              </a:rPr>
              <a:t>Output is one of five levels (not a precise measurement):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or below 300 m  (camera in cloud/fog)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300 m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500 m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1 km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3 km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Visibility: at least 5 km  (far field clear)</a:t>
            </a:r>
          </a:p>
          <a:p>
            <a:pPr>
              <a:spcAft>
                <a:spcPts val="600"/>
              </a:spcAft>
            </a:pPr>
          </a:p>
          <a:p>
            <a:r>
              <a:rPr sz="1800">
                <a:solidFill>
                  <a:srgbClr val="222222"/>
                </a:solidFill>
              </a:rPr>
              <a:t>Method (day): far-field wash ratio &amp; gradient — washed/low-texture → closer bracket.</a:t>
            </a:r>
          </a:p>
          <a:p>
            <a:r>
              <a:rPr sz="1800">
                <a:solidFill>
                  <a:srgbClr val="222222"/>
                </a:solidFill>
              </a:rPr>
              <a:t>Method (night): valley bright-spot density → proxy for light visibility.</a:t>
            </a:r>
          </a:p>
          <a:p>
            <a:pPr>
              <a:spcAft>
                <a:spcPts val="600"/>
              </a:spcAft>
            </a:pPr>
          </a:p>
          <a:p>
            <a:r>
              <a:rPr sz="1800">
                <a:solidFill>
                  <a:srgbClr val="222222"/>
                </a:solidFill>
              </a:rPr>
              <a:t>Both results (cloud-base height + visibility estimate) now shown together on the web app.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75C"/>
                </a:solidFill>
              </a:rPr>
              <a:t>New Feature: Multi-Station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22222"/>
                </a:solidFill>
              </a:rPr>
              <a:t>Requested on slides 24 &amp; 28: apply the same cloud/not-cloud analysis</a:t>
            </a:r>
          </a:p>
          <a:p>
            <a:r>
              <a:rPr sz="1800">
                <a:solidFill>
                  <a:srgbClr val="222222"/>
                </a:solidFill>
              </a:rPr>
              <a:t>to other HKO hill weather stations (not just KFBG).</a:t>
            </a:r>
          </a:p>
          <a:p>
            <a:pPr>
              <a:spcAft>
                <a:spcPts val="600"/>
              </a:spcAft>
            </a:pPr>
          </a:p>
          <a:p>
            <a:r>
              <a:rPr sz="1800">
                <a:solidFill>
                  <a:srgbClr val="222222"/>
                </a:solidFill>
              </a:rPr>
              <a:t>The web app now has a Station selector: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KFBG — Kadoorie Farm &amp; Botanic Garden  (~150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Tai Mo Shan  (~957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Victoria Peak  (~396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Lantau Peak  (~934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Ma On Shan  (~702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Lion Rock  (~495 m)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Pat Sin Leng  (~639 m)</a:t>
            </a:r>
          </a:p>
          <a:p>
            <a:pPr>
              <a:spcAft>
                <a:spcPts val="600"/>
              </a:spcAft>
            </a:pPr>
          </a:p>
          <a:p>
            <a:r>
              <a:rPr sz="1800">
                <a:solidFill>
                  <a:srgbClr val="222222"/>
                </a:solidFill>
              </a:rPr>
              <a:t>Each station uses its own altitude for the cloud-base message.</a:t>
            </a:r>
          </a:p>
          <a:p>
            <a:r>
              <a:rPr sz="1800">
                <a:solidFill>
                  <a:srgbClr val="222222"/>
                </a:solidFill>
              </a:rPr>
              <a:t>No retraining needed — same heuristic feature logic works across stations.</a:t>
            </a:r>
          </a:p>
          <a:p>
            <a:r>
              <a:rPr sz="1800">
                <a:solidFill>
                  <a:srgbClr val="222222"/>
                </a:solidFill>
              </a:rPr>
              <a:t>Reference: https://www.hko.gov.hk/en/wxinfo/ts/index_webcam.htm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375C"/>
                </a:solidFill>
              </a:rPr>
              <a:t>v6 Web App — Summary of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22222"/>
                </a:solidFill>
              </a:rPr>
              <a:t>1. Station selector  (7 HK hill weather stations, each with correct altitude)</a:t>
            </a:r>
          </a:p>
          <a:p>
            <a:r>
              <a:rPr sz="1800">
                <a:solidFill>
                  <a:srgbClr val="222222"/>
                </a:solidFill>
              </a:rPr>
              <a:t>2. Visibility estimate  (300 m / 500 m / 1 km / 3 km / 5 km)</a:t>
            </a:r>
          </a:p>
          <a:p>
            <a:r>
              <a:rPr sz="1800">
                <a:solidFill>
                  <a:srgbClr val="222222"/>
                </a:solidFill>
              </a:rPr>
              <a:t>3. Output now shows two lines:</a:t>
            </a:r>
          </a:p>
          <a:p>
            <a:r>
              <a:rPr sz="1800">
                <a:solidFill>
                  <a:srgbClr val="222222"/>
                </a:solidFill>
              </a:rPr>
              <a:t>   • Cloud-base height result  (existing)</a:t>
            </a:r>
          </a:p>
          <a:p>
            <a:r>
              <a:rPr sz="1800">
                <a:solidFill>
                  <a:srgbClr val="222222"/>
                </a:solidFill>
              </a:rPr>
              <a:t>   • Visibility estimate  (new)</a:t>
            </a:r>
          </a:p>
          <a:p>
            <a:pPr>
              <a:spcAft>
                <a:spcPts val="600"/>
              </a:spcAft>
            </a:pPr>
          </a:p>
          <a:p>
            <a:r>
              <a:rPr sz="1800">
                <a:solidFill>
                  <a:srgbClr val="222222"/>
                </a:solidFill>
              </a:rPr>
              <a:t>4. Debug line shows station name + key feature values.</a:t>
            </a:r>
          </a:p>
          <a:p>
            <a:r>
              <a:rPr sz="1800">
                <a:solidFill>
                  <a:srgbClr val="222222"/>
                </a:solidFill>
              </a:rPr>
              <a:t>5. No server changes needed — all logic runs in the browser.</a:t>
            </a:r>
          </a:p>
          <a:p>
            <a:pPr>
              <a:spcAft>
                <a:spcPts val="600"/>
              </a:spcAft>
            </a:pPr>
          </a:p>
          <a:p>
            <a:r>
              <a:rPr sz="1800">
                <a:solidFill>
                  <a:srgbClr val="222222"/>
                </a:solidFill>
              </a:rPr>
              <a:t>Files updated: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docs/index.html  (v6 — station selector, visibility output block)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• docs/app.js  (formatMessage, estimateVisibility, analyzeFile, STATIONS map)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