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Helvetica Neue"/>
                <a:ea typeface="PingFang TC"/>
              </a:rPr>
              <a:t>KFB Cloud Coverage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A9D3EE"/>
                </a:solidFill>
                <a:latin typeface="Helvetica Neue"/>
                <a:ea typeface="PingFang TC"/>
              </a:rPr>
              <a:t>Estimating cloud base from a hill weather-camera photo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  <a:ea typeface="PingFang TC"/>
              </a:rPr>
              <a:t>One Kadoorie Farm photo (camera at ~150 m) → day/night → inside cloud? → cloud-base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A9D3EE"/>
                </a:solidFill>
                <a:latin typeface="Helvetica Neue"/>
                <a:ea typeface="PingFang TC"/>
              </a:rPr>
              <a:t>Project overview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Problem &amp; Motivation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Drone pilots need cloud-base height, but Hong Kong has few direct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63624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F80B9"/>
                </a:solidFill>
                <a:latin typeface="Helvetica Neue"/>
                <a:ea typeface="PingFang TC"/>
              </a:rPr>
              <a:t>Regulatory need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CAD drone rules require pilots to know the approximate cloud-base height.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26664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F80B9"/>
                </a:solidFill>
                <a:latin typeface="Helvetica Neue"/>
                <a:ea typeface="PingFang TC"/>
              </a:rPr>
              <a:t>Observation gap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Hong Kong has almost no public, real-time direct measurements of cloud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6400800" cy="123444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9704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F80B9"/>
                </a:solidFill>
                <a:latin typeface="Helvetica Neue"/>
                <a:ea typeface="PingFang TC"/>
              </a:rPr>
              <a:t>Existing asset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HKO operates hill weather cameras at known altitudes — e.g. Kadoorie Farm (KFB) at ~150 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16052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4592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42A3E"/>
                </a:solidFill>
                <a:latin typeface="Helvetica Neue"/>
                <a:ea typeface="PingFang TC"/>
              </a:rPr>
              <a:t>Key inference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2303C"/>
                </a:solidFill>
                <a:latin typeface="Helvetica Neue"/>
                <a:ea typeface="PingFang TC"/>
              </a:rPr>
              <a:t>Camera is inside cloud (whiteout, distant view lost)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F80B9"/>
                </a:solidFill>
                <a:latin typeface="Helvetica Neue"/>
                <a:ea typeface="PingFang TC"/>
              </a:rPr>
              <a:t>→ cloud base ≤ 150 m (camera altitude)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2303C"/>
                </a:solidFill>
                <a:latin typeface="Helvetica Neue"/>
                <a:ea typeface="PingFang TC"/>
              </a:rPr>
              <a:t>Camera is not inside cloud (distant view clear)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E8B57"/>
                </a:solidFill>
                <a:latin typeface="Helvetica Neue"/>
                <a:ea typeface="PingFang TC"/>
              </a:rPr>
              <a:t>→ cloud base &gt; 150 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Turn an existing webcam into a cloud-base sensor — no new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Core Idea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No radar, no new hardware — just the visual cues in the photo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A3E"/>
                </a:solidFill>
                <a:latin typeface="Helvetica Neue"/>
                <a:ea typeface="PingFang TC"/>
              </a:rPr>
              <a:t>Daytime cues</a:t>
            </a:r>
          </a:p>
        </p:txBody>
      </p:sp>
      <p:pic>
        <p:nvPicPr>
          <p:cNvPr id="6" name="Picture 5" descr="imgKFB_160106_1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4937760" cy="1572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8B57"/>
                </a:solidFill>
                <a:latin typeface="Helvetica Neue"/>
                <a:ea typeface="PingFang TC"/>
              </a:rPr>
              <a:t>Clear: valley, towns and distant hills all visible</a:t>
            </a:r>
          </a:p>
        </p:txBody>
      </p:sp>
      <p:pic>
        <p:nvPicPr>
          <p:cNvPr id="8" name="Picture 7" descr="imgKFB_160105_11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41648"/>
            <a:ext cx="4937760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41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F80B9"/>
                </a:solidFill>
                <a:latin typeface="Helvetica Neue"/>
                <a:ea typeface="PingFang TC"/>
              </a:rPr>
              <a:t>In cloud: uniform whiteout, distant texture gone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7160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361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A3E"/>
                </a:solidFill>
                <a:latin typeface="Helvetica Neue"/>
                <a:ea typeface="PingFang TC"/>
              </a:rPr>
              <a:t>Nighttime cues</a:t>
            </a:r>
          </a:p>
        </p:txBody>
      </p:sp>
      <p:pic>
        <p:nvPicPr>
          <p:cNvPr id="12" name="Picture 11" descr="imgKFB_160101_0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57400"/>
            <a:ext cx="4937760" cy="1572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E8B57"/>
                </a:solidFill>
                <a:latin typeface="Helvetica Neue"/>
                <a:ea typeface="PingFang TC"/>
              </a:rPr>
              <a:t>Clear: valley lights clearly visible</a:t>
            </a:r>
          </a:p>
        </p:txBody>
      </p:sp>
      <p:pic>
        <p:nvPicPr>
          <p:cNvPr id="14" name="Picture 13" descr="imgKFB_160103_03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041648"/>
            <a:ext cx="4937760" cy="1572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840" y="5641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F80B9"/>
                </a:solidFill>
                <a:latin typeface="Helvetica Neue"/>
                <a:ea typeface="PingFang TC"/>
              </a:rPr>
              <a:t>In cloud: lights swallowed by fog, uniformly dark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System Pipeline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Classical image features + a lightweight model, fully automated end to end</a:t>
            </a:r>
          </a:p>
        </p:txBody>
      </p:sp>
      <p:sp>
        <p:nvSpPr>
          <p:cNvPr id="4" name="Chevron 3"/>
          <p:cNvSpPr/>
          <p:nvPr/>
        </p:nvSpPr>
        <p:spPr>
          <a:xfrm>
            <a:off x="502920" y="1554480"/>
            <a:ext cx="2331720" cy="96012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Image input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3,497 KFB photos</a:t>
            </a:r>
          </a:p>
        </p:txBody>
      </p:sp>
      <p:sp>
        <p:nvSpPr>
          <p:cNvPr id="5" name="Chevron 4"/>
          <p:cNvSpPr/>
          <p:nvPr/>
        </p:nvSpPr>
        <p:spPr>
          <a:xfrm>
            <a:off x="2761488" y="1554480"/>
            <a:ext cx="2331720" cy="96012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Feature extraction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brightness / edges / saturation…</a:t>
            </a:r>
          </a:p>
        </p:txBody>
      </p:sp>
      <p:sp>
        <p:nvSpPr>
          <p:cNvPr id="6" name="Chevron 5"/>
          <p:cNvSpPr/>
          <p:nvPr/>
        </p:nvSpPr>
        <p:spPr>
          <a:xfrm>
            <a:off x="5020056" y="1554480"/>
            <a:ext cx="2331720" cy="96012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Heuristic auto-label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labels.csv, human-editable</a:t>
            </a:r>
          </a:p>
        </p:txBody>
      </p:sp>
      <p:sp>
        <p:nvSpPr>
          <p:cNvPr id="7" name="Chevron 6"/>
          <p:cNvSpPr/>
          <p:nvPr/>
        </p:nvSpPr>
        <p:spPr>
          <a:xfrm>
            <a:off x="7278624" y="1554480"/>
            <a:ext cx="2331720" cy="96012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Train classifier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logistic regression + scaler</a:t>
            </a:r>
          </a:p>
        </p:txBody>
      </p:sp>
      <p:sp>
        <p:nvSpPr>
          <p:cNvPr id="8" name="Chevron 7"/>
          <p:cNvSpPr/>
          <p:nvPr/>
        </p:nvSpPr>
        <p:spPr>
          <a:xfrm>
            <a:off x="9537192" y="1554480"/>
            <a:ext cx="2331720" cy="960120"/>
          </a:xfrm>
          <a:prstGeom prst="chevron">
            <a:avLst/>
          </a:prstGeom>
          <a:solidFill>
            <a:srgbClr val="2F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600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TC"/>
              </a:rPr>
              <a:t>Predict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A9D3EE"/>
                </a:solidFill>
                <a:latin typeface="Helvetica Neue"/>
                <a:ea typeface="PingFang TC"/>
              </a:rPr>
              <a:t>fixed cloud-base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0972800" cy="32004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Module layout (each file does one job)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80B9"/>
                </a:solidFill>
                <a:latin typeface="Menlo"/>
              </a:rPr>
              <a:t>src/features.py</a:t>
            </a:r>
            <a:r>
              <a:rPr sz="1300">
                <a:solidFill>
                  <a:srgbClr val="22303C"/>
                </a:solidFill>
                <a:latin typeface="Helvetica Neue"/>
                <a:ea typeface="PingFang TC"/>
              </a:rPr>
              <a:t>   load image, crop the timestamp banner, extract 10 features, decide day/night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80B9"/>
                </a:solidFill>
                <a:latin typeface="Menlo"/>
              </a:rPr>
              <a:t>src/heuristic.py</a:t>
            </a:r>
            <a:r>
              <a:rPr sz="1300">
                <a:solidFill>
                  <a:srgbClr val="22303C"/>
                </a:solidFill>
                <a:latin typeface="Helvetica Neue"/>
                <a:ea typeface="PingFang TC"/>
              </a:rPr>
              <a:t>   visual rules produce seed labels (inside_cloud / not_inside)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80B9"/>
                </a:solidFill>
                <a:latin typeface="Menlo"/>
              </a:rPr>
              <a:t>src/auto_label.py</a:t>
            </a:r>
            <a:r>
              <a:rPr sz="1300">
                <a:solidFill>
                  <a:srgbClr val="22303C"/>
                </a:solidFill>
                <a:latin typeface="Helvetica Neue"/>
                <a:ea typeface="PingFang TC"/>
              </a:rPr>
              <a:t>   scan every photo in image/, write data/labels.csv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80B9"/>
                </a:solidFill>
                <a:latin typeface="Menlo"/>
              </a:rPr>
              <a:t>src/train.py</a:t>
            </a:r>
            <a:r>
              <a:rPr sz="1300">
                <a:solidFill>
                  <a:srgbClr val="22303C"/>
                </a:solidFill>
                <a:latin typeface="Helvetica Neue"/>
                <a:ea typeface="PingFang TC"/>
              </a:rPr>
              <a:t>   80/20 split by date, train logistic regression, export a tiny JSON model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80B9"/>
                </a:solidFill>
                <a:latin typeface="Menlo"/>
              </a:rPr>
              <a:t>src/predict.py</a:t>
            </a:r>
            <a:r>
              <a:rPr sz="1300">
                <a:solidFill>
                  <a:srgbClr val="22303C"/>
                </a:solidFill>
                <a:latin typeface="Helvetica Neue"/>
                <a:ea typeface="PingFang TC"/>
              </a:rPr>
              <a:t>   single/batch inference, print the fixed message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80B9"/>
                </a:solidFill>
                <a:latin typeface="Menlo"/>
              </a:rPr>
              <a:t>src/web.py + docs/</a:t>
            </a:r>
            <a:r>
              <a:rPr sz="1300">
                <a:solidFill>
                  <a:srgbClr val="22303C"/>
                </a:solidFill>
                <a:latin typeface="Helvetica Neue"/>
                <a:ea typeface="PingFang TC"/>
              </a:rPr>
              <a:t>   Flask server variant and the GitHub Pages in-browser variant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Feature Engineering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Crop the timestamp banner (top 8%), resize to 640 px long side — identical to the browser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Overall appearance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Brightness mean / std (whiteout → high mean, low variance)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Saturation mean (inside cloud looks grey, low saturation)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Edge density (Laplacian; little texture inside cloud)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55448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08192" y="1719072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Spatial structure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Upper vs lower half contrast (is the far scene washed out?)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Far-field gradient far_grad (excludes bottom 28% trees)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Far-field washout ratio far_wash and std far_std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8620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050792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Night-specific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Bright-spot ratio bright_spot_ratio (valley lights)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No lights + uniform frame → lean inside_cloud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88620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4050792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Day/night decision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Image brightness only: mean ≥ 80 means day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22303C"/>
                </a:solidFill>
                <a:latin typeface="Helvetica Neue"/>
                <a:ea typeface="PingFang TC"/>
              </a:rPr>
              <a:t>•  No dependence on filename time → works for any photo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Data &amp; Auto-Labeling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Heuristic rules label everything first; humans only spot-check — no hand-labeling 3,497 photos</a:t>
            </a:r>
          </a:p>
        </p:txBody>
      </p:sp>
      <p:pic>
        <p:nvPicPr>
          <p:cNvPr id="4" name="Picture 3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035040" cy="3394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554480"/>
            <a:ext cx="4800600" cy="4480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755648"/>
            <a:ext cx="4251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Labeling workflow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python -m src.auto_label scans all photos and applies the visual rules as seed labels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Output goes to data/labels.csv (with all feature values; edit the label column to correct)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src/sample_review.py prints stratified samples (day/night × in/out of cloud) for an eye check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Retrain after corrections — labeling cost stays tiny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Example heuristic rule (daytime)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Menlo"/>
                <a:ea typeface="Menlo"/>
              </a:rPr>
              <a:t>far_wash &gt;= 0.60 and far_grad &lt;= 5.0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F80B9"/>
                </a:solidFill>
                <a:latin typeface="Helvetica Neue"/>
                <a:ea typeface="PingFang TC"/>
              </a:rPr>
              <a:t>→ far field mostly washed out with almost no texture → inside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Model &amp; Evaluation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Logistic regression (StandardScaler + class_weight=balanced), split by date to avoid same-day leakage</a:t>
            </a:r>
          </a:p>
        </p:txBody>
      </p:sp>
      <p:pic>
        <p:nvPicPr>
          <p:cNvPr id="4" name="Picture 3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4582159" cy="3749039"/>
          </a:xfrm>
          <a:prstGeom prst="rect">
            <a:avLst/>
          </a:prstGeom>
        </p:spPr>
      </p:pic>
      <p:pic>
        <p:nvPicPr>
          <p:cNvPr id="5" name="Picture 4" descr="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00200"/>
            <a:ext cx="6873238" cy="374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Helvetica Neue"/>
                <a:ea typeface="PingFang TC"/>
              </a:rPr>
              <a:t>Test accuracy 92.4% (458 images from held-out dates). Weights match intuition: high brightness variance, more edges and higher saturation all push toward not_inside.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Live Examples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Real outputs for four scenarios (python -m src.predict)</a:t>
            </a:r>
          </a:p>
        </p:txBody>
      </p:sp>
      <p:pic>
        <p:nvPicPr>
          <p:cNvPr id="4" name="Picture 3" descr="imgKFB_160106_1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3108960" cy="1746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6200" y="15087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Day · clear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E8B57"/>
                </a:solidFill>
                <a:latin typeface="Menlo"/>
                <a:ea typeface="Menlo"/>
              </a:rPr>
              <a:t>I am not inside cloud. Cloud base above 150 m.</a:t>
            </a:r>
          </a:p>
        </p:txBody>
      </p:sp>
      <p:pic>
        <p:nvPicPr>
          <p:cNvPr id="6" name="Picture 5" descr="imgKFB_160105_11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108960" cy="1746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46920" y="15087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Day · in cloud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80B9"/>
                </a:solidFill>
                <a:latin typeface="Menlo"/>
                <a:ea typeface="Menlo"/>
              </a:rPr>
              <a:t>Camera is inside cloud (day). Cloud base at or below ~150 m.</a:t>
            </a:r>
          </a:p>
        </p:txBody>
      </p:sp>
      <p:pic>
        <p:nvPicPr>
          <p:cNvPr id="8" name="Picture 7" descr="imgKFB_160101_0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3108960" cy="1746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0" y="40233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Night · clear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E8B57"/>
                </a:solidFill>
                <a:latin typeface="Menlo"/>
                <a:ea typeface="Menlo"/>
              </a:rPr>
              <a:t>I am not inside cloud. Cloud base above 150 m.</a:t>
            </a:r>
          </a:p>
        </p:txBody>
      </p:sp>
      <p:pic>
        <p:nvPicPr>
          <p:cNvPr id="10" name="Picture 9" descr="imgKFB_160103_03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931920"/>
            <a:ext cx="3108960" cy="1746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46920" y="40233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Night · in cloud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80B9"/>
                </a:solidFill>
                <a:latin typeface="Menlo"/>
                <a:ea typeface="Menlo"/>
              </a:rPr>
              <a:t>Camera is inside cloud (night). Cloud base at or below ~150 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Deployment Strategy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One rule set, three runtimes, identical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GitHub Pages (primary)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Static site in docs/; app.js computes in the visitor's browser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Photos never leave the user's device → privacy-friendly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Zero server cost, no OOM — anyone with the link can use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16916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Render / Flask (fallback)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src/web.py: Flask + waitress, single thread to save memory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BLAS threads and upload size capped (8 MB) for the free tier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Dockerfile included — portable to any container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6916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A3E"/>
                </a:solidFill>
                <a:latin typeface="Helvetica Neue"/>
                <a:ea typeface="PingFang TC"/>
              </a:rPr>
              <a:t>CLI (development)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python -m src.predict photo.jpg prints the message directly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auto_label / train / sample_review are all one-liners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•  Model exports to a tiny JSON (weights + intercept) readable in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The Python and JavaScript feature code is deliberately aligned line by line (same resize, crop and formulas), so all three runtimes agree.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Engineering Practices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7083"/>
                </a:solidFill>
                <a:latin typeface="Helvetica Neue"/>
                <a:ea typeface="PingFang TC"/>
              </a:rPr>
              <a:t>A small project run with a proper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2F80B9"/>
                </a:solidFill>
                <a:latin typeface="Helvetica Neue"/>
                <a:ea typeface="PingFang TC"/>
              </a:rPr>
              <a:t>Test-driven development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Failing tests first, then implementation: message format, day/night, feature shape and heuristic rules each have unit tests, plus an end-to-end smoke test on real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0048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2F80B9"/>
                </a:solidFill>
                <a:latin typeface="Helvetica Neue"/>
                <a:ea typeface="PingFang TC"/>
              </a:rPr>
              <a:t>No data leakage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Train/test split is by date, so photos from the same day never appear on both sides — frames five minutes apart are nearly identical.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2F80B9"/>
                </a:solidFill>
                <a:latin typeface="Helvetica Neue"/>
                <a:ea typeface="PingFang TC"/>
              </a:rPr>
              <a:t>Spec and plan first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docs/superpowers/ holds the design spec (goals, non-goals, success criteria) and a step-by-step implementation plan, reviewed before 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84064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2F80B9"/>
                </a:solidFill>
                <a:latin typeface="Helvetica Neue"/>
                <a:ea typeface="PingFang TC"/>
              </a:rPr>
              <a:t>Deliberate non-goals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Helvetica Neue"/>
                <a:ea typeface="PingFang TC"/>
              </a:rPr>
              <a:t>v1 skips CNNs, humidity fusion, multi-site cameras and continuous cloud-base regression — make the simplest version useful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142A3E"/>
                </a:solidFill>
                <a:latin typeface="Helvetica Neue"/>
                <a:ea typeface="PingFang TC"/>
              </a:rPr>
              <a:t>Summary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42A3E"/>
                </a:solidFill>
                <a:latin typeface="Helvetica Neue"/>
                <a:ea typeface="PingFang TC"/>
              </a:rPr>
              <a:t>Done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Fully automated pipeline: 3,497 photos → labels → training → inference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Works day and night, emitting two fixed cloud-base messages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92.4% test accuracy, validated on held-out dates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Live on GitHub Pages — anyone can use it, photos stay on-device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Unit tests + smoke test all 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E3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91640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42A3E"/>
                </a:solidFill>
                <a:latin typeface="Helvetica Neue"/>
                <a:ea typeface="PingFang TC"/>
              </a:rPr>
              <a:t>Future work (v2+)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Fuse relative humidity (RH) and other weather data for reliability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Add more sites: Tai Mo Shan, Victoria Peak — cameras at other altitudes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Combine altitudes to upgrade from a binary call to a cloud-base height range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Consider a lightweight CNN only if classical features plateau on corrected labels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22303C"/>
                </a:solidFill>
                <a:latin typeface="Helvetica Neue"/>
                <a:ea typeface="PingFang TC"/>
              </a:rPr>
              <a:t>•  Collect data across seasons to handle rain and haze confounders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2A3E"/>
                </a:solidFill>
                <a:latin typeface="Helvetica Neue"/>
                <a:ea typeface="PingFang TC"/>
              </a:rPr>
              <a:t>One photo, one answer: is the cloud base above or below 150 metres?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KFB Cloud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7083"/>
                </a:solidFill>
                <a:latin typeface="Helvetica Neue"/>
                <a:ea typeface="PingFang T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