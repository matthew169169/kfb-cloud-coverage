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pdate_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55448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400" b="1">
                <a:solidFill>
                  <a:srgbClr val="FFFFFF"/>
                </a:solidFill>
                <a:latin typeface="Helvetica Neue"/>
                <a:ea typeface="PingFang TC"/>
              </a:rPr>
              <a:t>KFB Cloud Coverage</a:t>
            </a:r>
          </a:p>
          <a:p>
            <a:pPr>
              <a:spcAft>
                <a:spcPts val="1600"/>
              </a:spcAft>
            </a:pPr>
            <a:r>
              <a:rPr sz="2200" b="0">
                <a:solidFill>
                  <a:srgbClr val="A9D3EE"/>
                </a:solidFill>
                <a:latin typeface="Helvetica Neue"/>
                <a:ea typeface="PingFang TC"/>
              </a:rPr>
              <a:t>Process update — combine data, holdout, ship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FFFFFF"/>
                </a:solidFill>
                <a:latin typeface="Helvetica Neue"/>
                <a:ea typeface="PingFang TC"/>
              </a:rPr>
              <a:t>8,354 unique frames  ·  date-grouped 80/20  ·  111 visual GT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A9D3EE"/>
                </a:solidFill>
                <a:latin typeface="Helvetica Neue"/>
                <a:ea typeface="PingFang TC"/>
              </a:rPr>
              <a:t>Test 96.2%  ·  golden 97.2%  ·  111 86.5%  ·  day 98.2%  ·  night 75.0%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A9D3EE"/>
                </a:solidFill>
                <a:latin typeface="Helvetica Neue"/>
                <a:ea typeface="PingFang TC"/>
              </a:rPr>
              <a:t>September 2026  ·  Kadoorie Farm webcam at ~150 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82296" cy="566928"/>
          </a:xfrm>
          <a:prstGeom prst="rect">
            <a:avLst/>
          </a:prstGeom>
          <a:solidFill>
            <a:srgbClr val="2F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142A3E"/>
                </a:solidFill>
                <a:latin typeface="Helvetica Neue"/>
                <a:ea typeface="PingFang TC"/>
              </a:rPr>
              <a:t>Why this update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5B7083"/>
                </a:solidFill>
                <a:latin typeface="Helvetica Neue"/>
                <a:ea typeface="PingFang TC"/>
              </a:rPr>
              <a:t>Combine useful labels, keep a date holdout, refuse volume that hurts honesty.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3611880" cy="470916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627632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42A3E"/>
                </a:solidFill>
                <a:latin typeface="Helvetica Neue"/>
                <a:ea typeface="PingFang TC"/>
              </a:rPr>
              <a:t>Before (d413d74)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303C"/>
                </a:solidFill>
                <a:latin typeface="Helvetica Neue"/>
                <a:ea typeface="PingFang TC"/>
              </a:rPr>
              <a:t>•  142 golden 2016 + 8,212 hourly 2023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303C"/>
                </a:solidFill>
                <a:latin typeface="Helvetica Neue"/>
                <a:ea typeface="PingFang TC"/>
              </a:rPr>
              <a:t>•  Date-grouped 80/20, train-split fit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303C"/>
                </a:solidFill>
                <a:latin typeface="Helvetica Neue"/>
                <a:ea typeface="PingFang TC"/>
              </a:rPr>
              <a:t>•  Test 97.2% (mostly heuristic labels)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303C"/>
                </a:solidFill>
                <a:latin typeface="Helvetica Neue"/>
                <a:ea typeface="PingFang TC"/>
              </a:rPr>
              <a:t>•  111 visual check 83.8% / day 94.6%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303C"/>
                </a:solidFill>
                <a:latin typeface="Helvetica Neue"/>
                <a:ea typeface="PingFang TC"/>
              </a:rPr>
              <a:t>•  Night 73.2% still the weak spot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417320"/>
            <a:ext cx="3611880" cy="4709160"/>
          </a:xfrm>
          <a:prstGeom prst="roundRect">
            <a:avLst>
              <a:gd name="adj" fmla="val 6000"/>
            </a:avLst>
          </a:prstGeom>
          <a:solidFill>
            <a:srgbClr val="E3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90872" y="1627632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42A3E"/>
                </a:solidFill>
                <a:latin typeface="Helvetica Neue"/>
                <a:ea typeface="PingFang TC"/>
              </a:rPr>
              <a:t>What we added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303C"/>
                </a:solidFill>
                <a:latin typeface="Helvetica Neue"/>
                <a:ea typeface="PingFang TC"/>
              </a:rPr>
              <a:t>•  Finished Jan-Apr per-minute extract: 166,772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303C"/>
                </a:solidFill>
                <a:latin typeface="Helvetica Neue"/>
                <a:ea typeface="PingFang TC"/>
              </a:rPr>
              <a:t>•  Tried shipping those minutes — they lost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303C"/>
                </a:solidFill>
                <a:latin typeface="Helvetica Neue"/>
                <a:ea typeface="PingFang TC"/>
              </a:rPr>
              <a:t>•  111 visual labels as human overrides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303C"/>
                </a:solidFill>
                <a:latin typeface="Helvetica Neue"/>
                <a:ea typeface="PingFang TC"/>
              </a:rPr>
              <a:t>•  Human rows weighted x20 vs hourly seed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303C"/>
                </a:solidFill>
                <a:latin typeface="Helvetica Neue"/>
                <a:ea typeface="PingFang TC"/>
              </a:rPr>
              <a:t>•  Same tiny JSON in Python and the browser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417320"/>
            <a:ext cx="3611880" cy="4709160"/>
          </a:xfrm>
          <a:prstGeom prst="roundRect">
            <a:avLst>
              <a:gd name="adj" fmla="val 6000"/>
            </a:avLst>
          </a:prstGeom>
          <a:solidFill>
            <a:srgbClr val="E6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85632" y="1627632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42A3E"/>
                </a:solidFill>
                <a:latin typeface="Helvetica Neue"/>
                <a:ea typeface="PingFang TC"/>
              </a:rPr>
              <a:t>Why it matters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303C"/>
                </a:solidFill>
                <a:latin typeface="Helvetica Neue"/>
                <a:ea typeface="PingFang TC"/>
              </a:rPr>
              <a:t>•  Golden-all 97.2% vs previous 95.1%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303C"/>
                </a:solidFill>
                <a:latin typeface="Helvetica Neue"/>
                <a:ea typeface="PingFang TC"/>
              </a:rPr>
              <a:t>•  111-photo 86.5% vs 83.8% vs rules 73.0%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303C"/>
                </a:solidFill>
                <a:latin typeface="Helvetica Neue"/>
                <a:ea typeface="PingFang TC"/>
              </a:rPr>
              <a:t>•  Day 98.2% is the operational win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303C"/>
                </a:solidFill>
                <a:latin typeface="Helvetica Neue"/>
                <a:ea typeface="PingFang TC"/>
              </a:rPr>
              <a:t>•  166k extra minutes were not progress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303C"/>
                </a:solidFill>
                <a:latin typeface="Helvetica Neue"/>
                <a:ea typeface="PingFang TC"/>
              </a:rPr>
              <a:t>•  Night labeling is still the next process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B7083"/>
                </a:solidFill>
                <a:latin typeface="Helvetica Neue"/>
                <a:ea typeface="PingFang TC"/>
              </a:rPr>
              <a:t>KFB Cloud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B7083"/>
                </a:solidFill>
                <a:latin typeface="Helvetica Neue"/>
                <a:ea typeface="PingFang TC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82296" cy="566928"/>
          </a:xfrm>
          <a:prstGeom prst="rect">
            <a:avLst/>
          </a:prstGeom>
          <a:solidFill>
            <a:srgbClr val="2F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142A3E"/>
                </a:solidFill>
                <a:latin typeface="Helvetica Neue"/>
                <a:ea typeface="PingFang TC"/>
              </a:rPr>
              <a:t>Updated process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5B7083"/>
                </a:solidFill>
                <a:latin typeface="Helvetica Neue"/>
                <a:ea typeface="PingFang TC"/>
              </a:rPr>
              <a:t>Photos -&gt; 9 features -&gt; heuristic seed -&gt; human override -&gt; date-split train -&gt; live</a:t>
            </a:r>
          </a:p>
        </p:txBody>
      </p:sp>
      <p:sp>
        <p:nvSpPr>
          <p:cNvPr id="4" name="Chevron 3"/>
          <p:cNvSpPr/>
          <p:nvPr/>
        </p:nvSpPr>
        <p:spPr>
          <a:xfrm>
            <a:off x="411480" y="1508760"/>
            <a:ext cx="1993392" cy="1051560"/>
          </a:xfrm>
          <a:prstGeom prst="chevron">
            <a:avLst/>
          </a:prstGeom>
          <a:solidFill>
            <a:srgbClr val="2F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600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Helvetica Neue"/>
                <a:ea typeface="PingFang TC"/>
              </a:rPr>
              <a:t>1. Ingest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A9D3EE"/>
                </a:solidFill>
                <a:latin typeface="Helvetica Neue"/>
                <a:ea typeface="PingFang TC"/>
              </a:rPr>
              <a:t>R5 USB 2023 + 2016 golden</a:t>
            </a:r>
          </a:p>
        </p:txBody>
      </p:sp>
      <p:sp>
        <p:nvSpPr>
          <p:cNvPr id="5" name="Chevron 4"/>
          <p:cNvSpPr/>
          <p:nvPr/>
        </p:nvSpPr>
        <p:spPr>
          <a:xfrm>
            <a:off x="2350008" y="1508760"/>
            <a:ext cx="1993392" cy="1051560"/>
          </a:xfrm>
          <a:prstGeom prst="chevron">
            <a:avLst/>
          </a:prstGeom>
          <a:solidFill>
            <a:srgbClr val="2F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600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Helvetica Neue"/>
                <a:ea typeface="PingFang TC"/>
              </a:rPr>
              <a:t>2. Features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A9D3EE"/>
                </a:solidFill>
                <a:latin typeface="Helvetica Neue"/>
                <a:ea typeface="PingFang TC"/>
              </a:rPr>
              <a:t>9 numbers, no CNN</a:t>
            </a:r>
          </a:p>
        </p:txBody>
      </p:sp>
      <p:sp>
        <p:nvSpPr>
          <p:cNvPr id="6" name="Chevron 5"/>
          <p:cNvSpPr/>
          <p:nvPr/>
        </p:nvSpPr>
        <p:spPr>
          <a:xfrm>
            <a:off x="4288536" y="1508760"/>
            <a:ext cx="1993392" cy="1051560"/>
          </a:xfrm>
          <a:prstGeom prst="chevron">
            <a:avLst/>
          </a:prstGeom>
          <a:solidFill>
            <a:srgbClr val="2F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600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Helvetica Neue"/>
                <a:ea typeface="PingFang TC"/>
              </a:rPr>
              <a:t>3. Seed labels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A9D3EE"/>
                </a:solidFill>
                <a:latin typeface="Helvetica Neue"/>
                <a:ea typeface="PingFang TC"/>
              </a:rPr>
              <a:t>heuristic, not the model</a:t>
            </a:r>
          </a:p>
        </p:txBody>
      </p:sp>
      <p:sp>
        <p:nvSpPr>
          <p:cNvPr id="7" name="Chevron 6"/>
          <p:cNvSpPr/>
          <p:nvPr/>
        </p:nvSpPr>
        <p:spPr>
          <a:xfrm>
            <a:off x="6227064" y="1508760"/>
            <a:ext cx="1993392" cy="1051560"/>
          </a:xfrm>
          <a:prstGeom prst="chevron">
            <a:avLst/>
          </a:prstGeom>
          <a:solidFill>
            <a:srgbClr val="2F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600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Helvetica Neue"/>
                <a:ea typeface="PingFang TC"/>
              </a:rPr>
              <a:t>4. Human GT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A9D3EE"/>
                </a:solidFill>
                <a:latin typeface="Helvetica Neue"/>
                <a:ea typeface="PingFang TC"/>
              </a:rPr>
              <a:t>142 + 111 visual override</a:t>
            </a:r>
          </a:p>
        </p:txBody>
      </p:sp>
      <p:sp>
        <p:nvSpPr>
          <p:cNvPr id="8" name="Chevron 7"/>
          <p:cNvSpPr/>
          <p:nvPr/>
        </p:nvSpPr>
        <p:spPr>
          <a:xfrm>
            <a:off x="8165592" y="1508760"/>
            <a:ext cx="1993392" cy="1051560"/>
          </a:xfrm>
          <a:prstGeom prst="chevron">
            <a:avLst/>
          </a:prstGeom>
          <a:solidFill>
            <a:srgbClr val="2F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600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Helvetica Neue"/>
                <a:ea typeface="PingFang TC"/>
              </a:rPr>
              <a:t>5. Train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A9D3EE"/>
                </a:solidFill>
                <a:latin typeface="Helvetica Neue"/>
                <a:ea typeface="PingFang TC"/>
              </a:rPr>
              <a:t>logreg, split by date</a:t>
            </a:r>
          </a:p>
        </p:txBody>
      </p:sp>
      <p:sp>
        <p:nvSpPr>
          <p:cNvPr id="9" name="Chevron 8"/>
          <p:cNvSpPr/>
          <p:nvPr/>
        </p:nvSpPr>
        <p:spPr>
          <a:xfrm>
            <a:off x="10104120" y="1508760"/>
            <a:ext cx="1993392" cy="1051560"/>
          </a:xfrm>
          <a:prstGeom prst="chevron">
            <a:avLst/>
          </a:prstGeom>
          <a:solidFill>
            <a:srgbClr val="2F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600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Helvetica Neue"/>
                <a:ea typeface="PingFang TC"/>
              </a:rPr>
              <a:t>6. Ship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A9D3EE"/>
                </a:solidFill>
                <a:latin typeface="Helvetica Neue"/>
                <a:ea typeface="PingFang TC"/>
              </a:rPr>
              <a:t>tiny JSON, Pages + Flask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788920"/>
            <a:ext cx="11201400" cy="658368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88036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80B9"/>
                </a:solidFill>
                <a:latin typeface="Helvetica Neue"/>
                <a:ea typeface="PingFang TC"/>
              </a:rPr>
              <a:t>Photo in</a:t>
            </a:r>
            <a:r>
              <a:rPr sz="1300" b="0">
                <a:solidFill>
                  <a:srgbClr val="22303C"/>
                </a:solidFill>
                <a:latin typeface="Helvetica Neue"/>
                <a:ea typeface="PingFang TC"/>
              </a:rPr>
              <a:t>   HKO KFB webcam / USB dump. Crop top 8% timestamp, resize 640 px — same as the browser.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502152"/>
            <a:ext cx="11201400" cy="658368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59359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80B9"/>
                </a:solidFill>
                <a:latin typeface="Helvetica Neue"/>
                <a:ea typeface="PingFang TC"/>
              </a:rPr>
              <a:t>Features</a:t>
            </a:r>
            <a:r>
              <a:rPr sz="1300" b="0">
                <a:solidFill>
                  <a:srgbClr val="22303C"/>
                </a:solidFill>
                <a:latin typeface="Helvetica Neue"/>
                <a:ea typeface="PingFang TC"/>
              </a:rPr>
              <a:t>   brightness, saturation, far-field wash/grad/std, bright-spot ratio, day/night from brightness &gt;= 80.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215384"/>
            <a:ext cx="11201400" cy="658368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306824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80B9"/>
                </a:solidFill>
                <a:latin typeface="Helvetica Neue"/>
                <a:ea typeface="PingFang TC"/>
              </a:rPr>
              <a:t>Seed vs truth</a:t>
            </a:r>
            <a:r>
              <a:rPr sz="1300" b="0">
                <a:solidFill>
                  <a:srgbClr val="22303C"/>
                </a:solidFill>
                <a:latin typeface="Helvetica Neue"/>
                <a:ea typeface="PingFang TC"/>
              </a:rPr>
              <a:t>   Hourly heuristic trains volume. Human eye overrides 142 + 111 rows. The model never labels itself.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928616"/>
            <a:ext cx="11201400" cy="658368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020056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80B9"/>
                </a:solidFill>
                <a:latin typeface="Helvetica Neue"/>
                <a:ea typeface="PingFang TC"/>
              </a:rPr>
              <a:t>Split hygiene</a:t>
            </a:r>
            <a:r>
              <a:rPr sz="1300" b="0">
                <a:solidFill>
                  <a:srgbClr val="22303C"/>
                </a:solidFill>
                <a:latin typeface="Helvetica Neue"/>
                <a:ea typeface="PingFang TC"/>
              </a:rPr>
              <a:t>   GroupShuffleSplit by YYMMDD, random_state=42. Weights fit on train only — no full-data refit.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641848"/>
            <a:ext cx="11201400" cy="658368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73328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80B9"/>
                </a:solidFill>
                <a:latin typeface="Helvetica Neue"/>
                <a:ea typeface="PingFang TC"/>
              </a:rPr>
              <a:t>Live loop</a:t>
            </a:r>
            <a:r>
              <a:rPr sz="1300" b="0">
                <a:solidFill>
                  <a:srgbClr val="22303C"/>
                </a:solidFill>
                <a:latin typeface="Helvetica Neue"/>
                <a:ea typeface="PingFang TC"/>
              </a:rPr>
              <a:t>   GitHub Actions every ~5 min -&gt; live.json. Pages runs the same JSON if the feed is stale.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B7083"/>
                </a:solidFill>
                <a:latin typeface="Helvetica Neue"/>
                <a:ea typeface="PingFang TC"/>
              </a:rPr>
              <a:t>KFB Cloud Coverage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B7083"/>
                </a:solidFill>
                <a:latin typeface="Helvetica Neue"/>
                <a:ea typeface="PingFang TC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82296" cy="566928"/>
          </a:xfrm>
          <a:prstGeom prst="rect">
            <a:avLst/>
          </a:prstGeom>
          <a:solidFill>
            <a:srgbClr val="2F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142A3E"/>
                </a:solidFill>
                <a:latin typeface="Helvetica Neue"/>
                <a:ea typeface="PingFang TC"/>
              </a:rPr>
              <a:t>What was combined — and what was not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5B7083"/>
                </a:solidFill>
                <a:latin typeface="Helvetica Neue"/>
                <a:ea typeface="PingFang TC"/>
              </a:rPr>
              <a:t>8,354 unique frames · 704 inside · 357 dates</a:t>
            </a:r>
          </a:p>
        </p:txBody>
      </p:sp>
      <p:pic>
        <p:nvPicPr>
          <p:cNvPr id="4" name="Picture 3" descr="update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71600"/>
            <a:ext cx="6309360" cy="298415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858000" y="1417320"/>
            <a:ext cx="4846320" cy="470916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14032" y="1600200"/>
            <a:ext cx="438912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42A3E"/>
                </a:solidFill>
                <a:latin typeface="Helvetica Neue"/>
                <a:ea typeface="PingFang TC"/>
              </a:rPr>
              <a:t>How each set is used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2303C"/>
                </a:solidFill>
                <a:latin typeface="Helvetica Neue"/>
                <a:ea typeface="PingFang TC"/>
              </a:rPr>
              <a:t>•  Golden 142 (2016) — human. 34 inside. Weighted x20.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2303C"/>
                </a:solidFill>
                <a:latin typeface="Helvetica Neue"/>
                <a:ea typeface="PingFang TC"/>
              </a:rPr>
              <a:t>•  R5 hourly 8,212 (2023, full year) — heuristic seed. 111 overridden by visual GT.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2303C"/>
                </a:solidFill>
                <a:latin typeface="Helvetica Neue"/>
                <a:ea typeface="PingFang TC"/>
              </a:rPr>
              <a:t>•  Review 111 — visual GT, join the date split. 20 fall on test dates.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303C"/>
                </a:solidFill>
                <a:latin typeface="Helvetica Neue"/>
                <a:ea typeface="PingFang TC"/>
              </a:rPr>
              <a:t>•  Per-minute 166,772 — extract finished Jan-Apr 22. Tried; honest checks fell. Not shipped.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2F80B9"/>
                </a:solidFill>
                <a:latin typeface="Helvetica Neue"/>
                <a:ea typeface="PingFang TC"/>
              </a:rPr>
              <a:t>Shipped = 8,354 unique rows, 80/20 by date, train-split fit.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B7083"/>
                </a:solidFill>
                <a:latin typeface="Helvetica Neue"/>
                <a:ea typeface="PingFang TC"/>
              </a:rPr>
              <a:t>KFB Cloud 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B7083"/>
                </a:solidFill>
                <a:latin typeface="Helvetica Neue"/>
                <a:ea typeface="PingFang TC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82296" cy="566928"/>
          </a:xfrm>
          <a:prstGeom prst="rect">
            <a:avLst/>
          </a:prstGeom>
          <a:solidFill>
            <a:srgbClr val="2F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142A3E"/>
                </a:solidFill>
                <a:latin typeface="Helvetica Neue"/>
                <a:ea typeface="PingFang TC"/>
              </a:rPr>
              <a:t>How the 111 photos were labeled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5B7083"/>
                </a:solidFill>
                <a:latin typeface="Helvetica Neue"/>
                <a:ea typeface="PingFang TC"/>
              </a:rPr>
              <a:t>review_r5/grid_01-13.jpg — judged against the project rule, then used as human overrides</a:t>
            </a:r>
          </a:p>
        </p:txBody>
      </p:sp>
      <p:pic>
        <p:nvPicPr>
          <p:cNvPr id="4" name="Picture 3" descr="grid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2697480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498848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B7083"/>
                </a:solidFill>
                <a:latin typeface="Helvetica Neue"/>
                <a:ea typeface="PingFang TC"/>
              </a:rPr>
              <a:t>grid_01</a:t>
            </a:r>
          </a:p>
        </p:txBody>
      </p:sp>
      <p:pic>
        <p:nvPicPr>
          <p:cNvPr id="6" name="Picture 5" descr="grid_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1417320"/>
            <a:ext cx="2697480" cy="3063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83280" y="4498848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B7083"/>
                </a:solidFill>
                <a:latin typeface="Helvetica Neue"/>
                <a:ea typeface="PingFang TC"/>
              </a:rPr>
              <a:t>grid_02</a:t>
            </a:r>
          </a:p>
        </p:txBody>
      </p:sp>
      <p:pic>
        <p:nvPicPr>
          <p:cNvPr id="8" name="Picture 7" descr="grid_0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417320"/>
            <a:ext cx="2697480" cy="3063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63640" y="4498848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B7083"/>
                </a:solidFill>
                <a:latin typeface="Helvetica Neue"/>
                <a:ea typeface="PingFang TC"/>
              </a:rPr>
              <a:t>grid_03</a:t>
            </a:r>
          </a:p>
        </p:txBody>
      </p:sp>
      <p:pic>
        <p:nvPicPr>
          <p:cNvPr id="10" name="Picture 9" descr="grid_0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1417320"/>
            <a:ext cx="2697480" cy="3063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0" y="4498848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B7083"/>
                </a:solidFill>
                <a:latin typeface="Helvetica Neue"/>
                <a:ea typeface="PingFang TC"/>
              </a:rPr>
              <a:t>grid_04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892040"/>
            <a:ext cx="11201400" cy="1371600"/>
          </a:xfrm>
          <a:prstGeom prst="roundRect">
            <a:avLst>
              <a:gd name="adj" fmla="val 6000"/>
            </a:avLst>
          </a:prstGeom>
          <a:solidFill>
            <a:srgbClr val="E3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029200"/>
            <a:ext cx="10698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42A3E"/>
                </a:solidFill>
                <a:latin typeface="Helvetica Neue"/>
                <a:ea typeface="PingFang TC"/>
              </a:rPr>
              <a:t>Label rule (same for day and night)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2303C"/>
                </a:solidFill>
                <a:latin typeface="Helvetica Neue"/>
                <a:ea typeface="PingFang TC"/>
              </a:rPr>
              <a:t>Day: washed-out textureless far field = inside; visible valley = not inside.  Night: lightless flat frame = inside; any valley lights = not inside.  Haze with a visible valley is not inside. Result: 57 inside / 54 not inside.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B7083"/>
                </a:solidFill>
                <a:latin typeface="Helvetica Neue"/>
                <a:ea typeface="PingFang TC"/>
              </a:rPr>
              <a:t>KFB Cloud Coverage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B7083"/>
                </a:solidFill>
                <a:latin typeface="Helvetica Neue"/>
                <a:ea typeface="PingFang TC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82296" cy="566928"/>
          </a:xfrm>
          <a:prstGeom prst="rect">
            <a:avLst/>
          </a:prstGeom>
          <a:solidFill>
            <a:srgbClr val="2F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142A3E"/>
                </a:solidFill>
                <a:latin typeface="Helvetica Neue"/>
                <a:ea typeface="PingFang TC"/>
              </a:rPr>
              <a:t>How the shipped model is trained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5B7083"/>
                </a:solidFill>
                <a:latin typeface="Helvetica Neue"/>
                <a:ea typeface="PingFang TC"/>
              </a:rPr>
              <a:t>Logistic regression, scaler folded into coef/intercept — one dot product in Python and JS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17320"/>
          <a:ext cx="1115568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663440"/>
                <a:gridCol w="493776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Helvetica Neue"/>
                        </a:defRPr>
                      </a:pPr>
                      <a:r>
                        <a:t>Piece</a:t>
                      </a:r>
                    </a:p>
                  </a:txBody>
                  <a:tcPr>
                    <a:solidFill>
                      <a:srgbClr val="14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Helvetica Neue"/>
                        </a:defRPr>
                      </a:pPr>
                      <a:r>
                        <a:t>Choice</a:t>
                      </a:r>
                    </a:p>
                  </a:txBody>
                  <a:tcPr>
                    <a:solidFill>
                      <a:srgbClr val="14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Helvetica Neue"/>
                        </a:defRPr>
                      </a:pPr>
                      <a:r>
                        <a:t>Why</a:t>
                      </a:r>
                    </a:p>
                  </a:txBody>
                  <a:tcPr>
                    <a:solidFill>
                      <a:srgbClr val="142A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LogReg, C=0.5, class_weight=balanced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Tiny, inspectable, identical in the browser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Features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9 (no edge_density)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Browser does not compute a Laplacian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Fit pool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8,354 unique / 357 dates / 704 inside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142 golden + 8,101 hourly + 111 visual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Train / test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6,652 / 1,702  (285 / 72 dates)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Human x20, hourly x1, train-split fit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GroupShuffleSplit by date, rs=42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Nearby frames would leak otherwise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Export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models/ + docs/ cloud_logreg.json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Pages, Flask, CLI, live Action share weights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02920" y="470916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E6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846320"/>
            <a:ext cx="50749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42A3E"/>
                </a:solidFill>
                <a:latin typeface="Helvetica Neue"/>
                <a:ea typeface="PingFang TC"/>
              </a:rPr>
              <a:t>What the weights listen to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2303C"/>
                </a:solidFill>
                <a:latin typeface="Helvetica Neue"/>
                <a:ea typeface="PingFang TC"/>
              </a:rPr>
              <a:t>far_wash and is_day push toward inside. saturation and far-field texture push toward not_inside — valley color and structure.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4709160"/>
            <a:ext cx="5532120" cy="1554480"/>
          </a:xfrm>
          <a:prstGeom prst="roundRect">
            <a:avLst>
              <a:gd name="adj" fmla="val 6000"/>
            </a:avLst>
          </a:prstGeom>
          <a:solidFill>
            <a:srgbClr val="E3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4846320"/>
            <a:ext cx="51206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42A3E"/>
                </a:solidFill>
                <a:latin typeface="Helvetica Neue"/>
                <a:ea typeface="PingFang TC"/>
              </a:rPr>
              <a:t>What we refused to ship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2303C"/>
                </a:solidFill>
                <a:latin typeface="Helvetica Neue"/>
                <a:ea typeface="PingFang TC"/>
              </a:rPr>
              <a:t>166,772 Jan-Apr minutes (and a 15-min subsample) both lost on golden and 111-photo checks vs d413d74. Four months of seed labels drown a full year.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B7083"/>
                </a:solidFill>
                <a:latin typeface="Helvetica Neue"/>
                <a:ea typeface="PingFang TC"/>
              </a:rPr>
              <a:t>KFB Cloud Coverage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B7083"/>
                </a:solidFill>
                <a:latin typeface="Helvetica Neue"/>
                <a:ea typeface="PingFang TC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82296" cy="566928"/>
          </a:xfrm>
          <a:prstGeom prst="rect">
            <a:avLst/>
          </a:prstGeom>
          <a:solidFill>
            <a:srgbClr val="2F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142A3E"/>
                </a:solidFill>
                <a:latin typeface="Helvetica Neue"/>
                <a:ea typeface="PingFang TC"/>
              </a:rPr>
              <a:t>Held-out test vs honest labels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5B7083"/>
                </a:solidFill>
                <a:latin typeface="Helvetica Neue"/>
                <a:ea typeface="PingFang TC"/>
              </a:rPr>
              <a:t>The 1,702-row test is mostly heuristic. Trust golden-all and the 111-photo numbers.</a:t>
            </a:r>
          </a:p>
        </p:txBody>
      </p:sp>
      <p:pic>
        <p:nvPicPr>
          <p:cNvPr id="4" name="Picture 3" descr="update_a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858000" cy="32485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60920" y="1417320"/>
            <a:ext cx="4343400" cy="470916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600200"/>
            <a:ext cx="393192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42A3E"/>
                </a:solidFill>
                <a:latin typeface="Helvetica Neue"/>
                <a:ea typeface="PingFang TC"/>
              </a:rPr>
              <a:t>Headline numbers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2303C"/>
                </a:solidFill>
                <a:latin typeface="Helvetica Neue"/>
                <a:ea typeface="PingFang TC"/>
              </a:rPr>
              <a:t>•  Test 1,702 — 96.2%. Zero missed inside-cloud [[1490, 65], [0, 147]].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2303C"/>
                </a:solidFill>
                <a:latin typeface="Helvetica Neue"/>
                <a:ea typeface="PingFang TC"/>
              </a:rPr>
              <a:t>•  Golden-all 142 — 97.2% vs d413d74 95.1%.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2303C"/>
                </a:solidFill>
                <a:latin typeface="Helvetica Neue"/>
                <a:ea typeface="PingFang TC"/>
              </a:rPr>
              <a:t>•  Heuristic-heavy test is below d413d74 97.2%. Not the selection metric.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303C"/>
                </a:solidFill>
                <a:latin typeface="Helvetica Neue"/>
                <a:ea typeface="PingFang TC"/>
              </a:rPr>
              <a:t>•  Trainer: tools/train_final.py. Previous weights kept as cloud_logreg_d413d74.json.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B7083"/>
                </a:solidFill>
                <a:latin typeface="Helvetica Neue"/>
                <a:ea typeface="PingFang TC"/>
              </a:rPr>
              <a:t>Caveat: 91 of 111 visual dates were in the train split. 20 test-date frames: 75%.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B7083"/>
                </a:solidFill>
                <a:latin typeface="Helvetica Neue"/>
                <a:ea typeface="PingFang TC"/>
              </a:rPr>
              <a:t>KFB Cloud 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B7083"/>
                </a:solidFill>
                <a:latin typeface="Helvetica Neue"/>
                <a:ea typeface="PingFang TC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82296" cy="566928"/>
          </a:xfrm>
          <a:prstGeom prst="rect">
            <a:avLst/>
          </a:prstGeom>
          <a:solidFill>
            <a:srgbClr val="2F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142A3E"/>
                </a:solidFill>
                <a:latin typeface="Helvetica Neue"/>
                <a:ea typeface="PingFang TC"/>
              </a:rPr>
              <a:t>111 visual 2023 photos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5B7083"/>
                </a:solidFill>
                <a:latin typeface="Helvetica Neue"/>
                <a:ea typeface="PingFang TC"/>
              </a:rPr>
              <a:t>Used as human overrides in the date split. Still the best 2023 eye-check we have.</a:t>
            </a:r>
          </a:p>
        </p:txBody>
      </p:sp>
      <p:pic>
        <p:nvPicPr>
          <p:cNvPr id="4" name="Picture 3" descr="update_c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4937760" cy="4059936"/>
          </a:xfrm>
          <a:prstGeom prst="rect">
            <a:avLst/>
          </a:prstGeom>
        </p:spPr>
      </p:pic>
      <p:pic>
        <p:nvPicPr>
          <p:cNvPr id="5" name="Picture 4" descr="update_d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371600"/>
            <a:ext cx="6492240" cy="4494628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4800600"/>
          <a:ext cx="96926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280160"/>
                <a:gridCol w="1371600"/>
                <a:gridCol w="1371600"/>
                <a:gridCol w="1371600"/>
                <a:gridCol w="1371600"/>
              </a:tblGrid>
              <a:tr h="256032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Helvetica Neue"/>
                        </a:defRPr>
                      </a:pPr>
                      <a:r>
                        <a:t>Predictor</a:t>
                      </a:r>
                    </a:p>
                  </a:txBody>
                  <a:tcPr>
                    <a:solidFill>
                      <a:srgbClr val="14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Helvetica Neue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4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Helvetica Neue"/>
                        </a:defRPr>
                      </a:pPr>
                      <a:r>
                        <a:t>Acc</a:t>
                      </a:r>
                    </a:p>
                  </a:txBody>
                  <a:tcPr>
                    <a:solidFill>
                      <a:srgbClr val="14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Helvetica Neue"/>
                        </a:defRPr>
                      </a:pPr>
                      <a:r>
                        <a:t>Prec</a:t>
                      </a:r>
                    </a:p>
                  </a:txBody>
                  <a:tcPr>
                    <a:solidFill>
                      <a:srgbClr val="14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Helvetica Neue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14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Helvetica Neue"/>
                        </a:defRPr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142A3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Heuristic rules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0.730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0.746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0.719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0.732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d413d74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111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0.838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0.783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0.947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0.857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Shipped final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0.865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0.800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0.983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0.882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Final · day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55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0.982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0.971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0.985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Final · night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0.750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0.639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0.958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303C"/>
                          </a:solidFill>
                          <a:latin typeface="Helvetica Neue"/>
                        </a:defRPr>
                      </a:pPr>
                      <a:r>
                        <a:t>0.767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B7083"/>
                </a:solidFill>
                <a:latin typeface="Helvetica Neue"/>
                <a:ea typeface="PingFang TC"/>
              </a:rPr>
              <a:t>KFB Cloud 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B7083"/>
                </a:solidFill>
                <a:latin typeface="Helvetica Neue"/>
                <a:ea typeface="PingFang TC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82296" cy="566928"/>
          </a:xfrm>
          <a:prstGeom prst="rect">
            <a:avLst/>
          </a:prstGeom>
          <a:solidFill>
            <a:srgbClr val="2F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142A3E"/>
                </a:solidFill>
                <a:latin typeface="Helvetica Neue"/>
                <a:ea typeface="PingFang TC"/>
              </a:rPr>
              <a:t>Where it still fails — and what to change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5B7083"/>
                </a:solidFill>
                <a:latin typeface="Helvetica Neue"/>
                <a:ea typeface="PingFang TC"/>
              </a:rPr>
              <a:t>The process gain is day recall. The process debt is night precision.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5532120" cy="3246120"/>
          </a:xfrm>
          <a:prstGeom prst="roundRect">
            <a:avLst>
              <a:gd name="adj" fmla="val 6000"/>
            </a:avLst>
          </a:prstGeom>
          <a:solidFill>
            <a:srgbClr val="E6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160020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42A3E"/>
                </a:solidFill>
                <a:latin typeface="Helvetica Neue"/>
                <a:ea typeface="PingFang TC"/>
              </a:rPr>
              <a:t>What improved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22303C"/>
                </a:solidFill>
                <a:latin typeface="Helvetica Neue"/>
                <a:ea typeface="PingFang TC"/>
              </a:rPr>
              <a:t>•  111-photo 83.8% -&gt; 86.5% vs rules 73.0%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22303C"/>
                </a:solidFill>
                <a:latin typeface="Helvetica Neue"/>
                <a:ea typeface="PingFang TC"/>
              </a:rPr>
              <a:t>•  Recall 0.98 — one missed inside-frame vs 3 / 16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22303C"/>
                </a:solidFill>
                <a:latin typeface="Helvetica Neue"/>
                <a:ea typeface="PingFang TC"/>
              </a:rPr>
              <a:t>•  Day 98.2% is briefable as operational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22303C"/>
                </a:solidFill>
                <a:latin typeface="Helvetica Neue"/>
                <a:ea typeface="PingFang TC"/>
              </a:rPr>
              <a:t>•  Golden-all 2016 95.1% -&gt; 97.2%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17320"/>
            <a:ext cx="5532120" cy="3246120"/>
          </a:xfrm>
          <a:prstGeom prst="roundRect">
            <a:avLst>
              <a:gd name="adj" fmla="val 6000"/>
            </a:avLst>
          </a:prstGeom>
          <a:solidFill>
            <a:srgbClr val="E3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3952" y="160020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42A3E"/>
                </a:solidFill>
                <a:latin typeface="Helvetica Neue"/>
                <a:ea typeface="PingFang TC"/>
              </a:rPr>
              <a:t>What did not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22303C"/>
                </a:solidFill>
                <a:latin typeface="Helvetica Neue"/>
                <a:ea typeface="PingFang TC"/>
              </a:rPr>
              <a:t>•  Night 75.0% (precision 0.64)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22303C"/>
                </a:solidFill>
                <a:latin typeface="Helvetica Neue"/>
                <a:ea typeface="PingFang TC"/>
              </a:rPr>
              <a:t>•  13 of 15 errors on the 111 are night false alarms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22303C"/>
                </a:solidFill>
                <a:latin typeface="Helvetica Neue"/>
                <a:ea typeface="PingFang TC"/>
              </a:rPr>
              <a:t>•  166k extra minutes made honest checks worse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22303C"/>
                </a:solidFill>
                <a:latin typeface="Helvetica Neue"/>
                <a:ea typeface="PingFang TC"/>
              </a:rPr>
              <a:t>•  Faint-light / fog / lens-obstruction still confuse both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800600"/>
            <a:ext cx="11201400" cy="146304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937760"/>
            <a:ext cx="106984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42A3E"/>
                </a:solidFill>
                <a:latin typeface="Helvetica Neue"/>
                <a:ea typeface="PingFang TC"/>
              </a:rPr>
              <a:t>Next process steps (in order)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2303C"/>
                </a:solidFill>
                <a:latin typeface="Helvetica Neue"/>
                <a:ea typeface="PingFang TC"/>
              </a:rPr>
              <a:t>1. Re-label night + borderline fog at full resolution.   2. Hold those 111 (and new night labels) fully out of the next fit.   3. Only ship a per-minute model once the extract covers a full year.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B7083"/>
                </a:solidFill>
                <a:latin typeface="Helvetica Neue"/>
                <a:ea typeface="PingFang TC"/>
              </a:rPr>
              <a:t>KFB Cloud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B7083"/>
                </a:solidFill>
                <a:latin typeface="Helvetica Neue"/>
                <a:ea typeface="PingFang TC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82296" cy="566928"/>
          </a:xfrm>
          <a:prstGeom prst="rect">
            <a:avLst/>
          </a:prstGeom>
          <a:solidFill>
            <a:srgbClr val="2F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142A3E"/>
                </a:solidFill>
                <a:latin typeface="Helvetica Neue"/>
                <a:ea typeface="PingFang TC"/>
              </a:rPr>
              <a:t>Takeaways for this update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2743200" cy="2148840"/>
          </a:xfrm>
          <a:prstGeom prst="roundRect">
            <a:avLst>
              <a:gd name="adj" fmla="val 6000"/>
            </a:avLst>
          </a:prstGeom>
          <a:solidFill>
            <a:srgbClr val="E3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237744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B7083"/>
                </a:solidFill>
                <a:latin typeface="Helvetica Neue"/>
                <a:ea typeface="PingFang TC"/>
              </a:rPr>
              <a:t>Shipped</a:t>
            </a:r>
          </a:p>
          <a:p>
            <a:pPr>
              <a:spcAft>
                <a:spcPts val="600"/>
              </a:spcAft>
            </a:pPr>
            <a:r>
              <a:rPr sz="2200" b="1">
                <a:solidFill>
                  <a:srgbClr val="142A3E"/>
                </a:solidFill>
                <a:latin typeface="Helvetica Neue"/>
                <a:ea typeface="PingFang TC"/>
              </a:rPr>
              <a:t>combined final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2303C"/>
                </a:solidFill>
                <a:latin typeface="Helvetica Neue"/>
                <a:ea typeface="PingFang TC"/>
              </a:rPr>
              <a:t>Same JSON in models/ and docs/. Live Pages + Flask + CLI.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417320"/>
            <a:ext cx="2743200" cy="2148840"/>
          </a:xfrm>
          <a:prstGeom prst="roundRect">
            <a:avLst>
              <a:gd name="adj" fmla="val 6000"/>
            </a:avLst>
          </a:prstGeom>
          <a:solidFill>
            <a:srgbClr val="E3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1554480"/>
            <a:ext cx="237744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B7083"/>
                </a:solidFill>
                <a:latin typeface="Helvetica Neue"/>
                <a:ea typeface="PingFang TC"/>
              </a:rPr>
              <a:t>Fit pool</a:t>
            </a:r>
          </a:p>
          <a:p>
            <a:pPr>
              <a:spcAft>
                <a:spcPts val="600"/>
              </a:spcAft>
            </a:pPr>
            <a:r>
              <a:rPr sz="2200" b="1">
                <a:solidFill>
                  <a:srgbClr val="142A3E"/>
                </a:solidFill>
                <a:latin typeface="Helvetica Neue"/>
                <a:ea typeface="PingFang TC"/>
              </a:rPr>
              <a:t>8,354 rows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2303C"/>
                </a:solidFill>
                <a:latin typeface="Helvetica Neue"/>
                <a:ea typeface="PingFang TC"/>
              </a:rPr>
              <a:t>142 + 8,101 + 111. 166k minutes extracted, not shipped.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1417320"/>
            <a:ext cx="2743200" cy="2148840"/>
          </a:xfrm>
          <a:prstGeom prst="roundRect">
            <a:avLst>
              <a:gd name="adj" fmla="val 6000"/>
            </a:avLst>
          </a:prstGeom>
          <a:solidFill>
            <a:srgbClr val="E3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554480"/>
            <a:ext cx="237744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B7083"/>
                </a:solidFill>
                <a:latin typeface="Helvetica Neue"/>
                <a:ea typeface="PingFang TC"/>
              </a:rPr>
              <a:t>Day</a:t>
            </a:r>
          </a:p>
          <a:p>
            <a:pPr>
              <a:spcAft>
                <a:spcPts val="600"/>
              </a:spcAft>
            </a:pPr>
            <a:r>
              <a:rPr sz="2200" b="1">
                <a:solidFill>
                  <a:srgbClr val="142A3E"/>
                </a:solidFill>
                <a:latin typeface="Helvetica Neue"/>
                <a:ea typeface="PingFang TC"/>
              </a:rPr>
              <a:t>98.2%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2303C"/>
                </a:solidFill>
                <a:latin typeface="Helvetica Neue"/>
                <a:ea typeface="PingFang TC"/>
              </a:rPr>
              <a:t>Strong on the 111 visual frames. Brief as ready.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81160" y="1417320"/>
            <a:ext cx="2743200" cy="2148840"/>
          </a:xfrm>
          <a:prstGeom prst="roundRect">
            <a:avLst>
              <a:gd name="adj" fmla="val 6000"/>
            </a:avLst>
          </a:prstGeom>
          <a:solidFill>
            <a:srgbClr val="E3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64040" y="1554480"/>
            <a:ext cx="237744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B7083"/>
                </a:solidFill>
                <a:latin typeface="Helvetica Neue"/>
                <a:ea typeface="PingFang TC"/>
              </a:rPr>
              <a:t>Night</a:t>
            </a:r>
          </a:p>
          <a:p>
            <a:pPr>
              <a:spcAft>
                <a:spcPts val="600"/>
              </a:spcAft>
            </a:pPr>
            <a:r>
              <a:rPr sz="2200" b="1">
                <a:solidFill>
                  <a:srgbClr val="142A3E"/>
                </a:solidFill>
                <a:latin typeface="Helvetica Neue"/>
                <a:ea typeface="PingFang TC"/>
              </a:rPr>
              <a:t>75.0%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2303C"/>
                </a:solidFill>
                <a:latin typeface="Helvetica Neue"/>
                <a:ea typeface="PingFang TC"/>
              </a:rPr>
              <a:t>High recall, too many faint-light false alarms. Next golden set.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749039"/>
            <a:ext cx="11201400" cy="2468880"/>
          </a:xfrm>
          <a:prstGeom prst="roundRect">
            <a:avLst>
              <a:gd name="adj" fmla="val 6000"/>
            </a:avLst>
          </a:prstGeom>
          <a:solidFill>
            <a:srgbClr val="E6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931920"/>
            <a:ext cx="106070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42A3E"/>
                </a:solidFill>
                <a:latin typeface="Helvetica Neue"/>
                <a:ea typeface="PingFang TC"/>
              </a:rPr>
              <a:t>One-sentence process update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303C"/>
                </a:solidFill>
                <a:latin typeface="Helvetica Neue"/>
                <a:ea typeface="PingFang TC"/>
              </a:rPr>
              <a:t>We combined 2016 human labels, a full year of 2023 hourly frames, and 111 visual overrides; evaluated on dates the fit never saw; and refused 166k extra minutes that hurt those checks. Daytime inside-cloud is the win. Night labeling is the next process.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8978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B7083"/>
                </a:solidFill>
                <a:latin typeface="Helvetica Neue"/>
                <a:ea typeface="PingFang TC"/>
              </a:rPr>
              <a:t>One photo, one answer: is the cloud base above or below 150 metres?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B7083"/>
                </a:solidFill>
                <a:latin typeface="Helvetica Neue"/>
                <a:ea typeface="PingFang TC"/>
              </a:rPr>
              <a:t>KFB Cloud Coverage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B7083"/>
                </a:solidFill>
                <a:latin typeface="Helvetica Neue"/>
                <a:ea typeface="PingFang TC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