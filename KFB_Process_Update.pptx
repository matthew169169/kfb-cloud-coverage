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date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5544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  <a:ea typeface="PingFang TC"/>
              </a:rPr>
              <a:t>KFB Cloud Coverage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A9D3EE"/>
                </a:solidFill>
                <a:latin typeface="Helvetica Neue"/>
                <a:ea typeface="PingFang TC"/>
              </a:rPr>
              <a:t>Process update — combine every unique label, hold out dates, 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Helvetica Neue"/>
                <a:ea typeface="PingFang TC"/>
              </a:rPr>
              <a:t>172,343 unique frames  ·  357 dates  ·  date-balanced 80/20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A9D3EE"/>
                </a:solidFill>
                <a:latin typeface="Helvetica Neue"/>
                <a:ea typeface="PingFang TC"/>
              </a:rPr>
              <a:t>Holdout 97.8%  ·  golden 96.5%  ·  111 86.5%  ·  day 96.4%  ·  night 76.8%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A9D3EE"/>
                </a:solidFill>
                <a:latin typeface="Helvetica Neue"/>
                <a:ea typeface="PingFang TC"/>
              </a:rPr>
              <a:t>September 2026  ·  Kadoorie Farm webcam at ~150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Why this update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v1 used 2016. d413d74 added 2023 hourly. This ships every unique frame.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A3E"/>
                </a:solidFill>
                <a:latin typeface="Helvetica Neue"/>
                <a:ea typeface="PingFang TC"/>
              </a:rPr>
              <a:t>Before (d413d74)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8,354 rows: 142 golden + 8,212 hourly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No Jan–Apr minutes in the fit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Date-grouped 80/20, train-split fit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111 visual check 83.8% / day 94.6%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Night 73.2% still the weak slice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1627632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A3E"/>
                </a:solidFill>
                <a:latin typeface="Helvetica Neue"/>
                <a:ea typeface="PingFang TC"/>
              </a:rPr>
              <a:t>What changed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Add 163,989 extra per-minute rows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111 visual labels override hourly seed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Weight 1/date, humans ×20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Date-grouped 80/20, train-split fit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Same 9 features, same JSON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627632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A3E"/>
                </a:solidFill>
                <a:latin typeface="Helvetica Neue"/>
                <a:ea typeface="PingFang TC"/>
              </a:rPr>
              <a:t>Why date-balance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Jan–Apr is ~1,440 frames/day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May–Dec is only 24 hourly frames/day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Equal-weight minutes drown later months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Mass: golden 40%, hourly 35%, minutes 18%, 111 7%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Keeps a full-year prior in 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Updated process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Photos → features → seed labels → human override → date-split train → live</a:t>
            </a:r>
          </a:p>
        </p:txBody>
      </p:sp>
      <p:sp>
        <p:nvSpPr>
          <p:cNvPr id="4" name="Chevron 3"/>
          <p:cNvSpPr/>
          <p:nvPr/>
        </p:nvSpPr>
        <p:spPr>
          <a:xfrm>
            <a:off x="411480" y="1508760"/>
            <a:ext cx="1993392" cy="105156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1. Ingest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Hourly year + Jan–Apr minutes</a:t>
            </a:r>
          </a:p>
        </p:txBody>
      </p:sp>
      <p:sp>
        <p:nvSpPr>
          <p:cNvPr id="5" name="Chevron 4"/>
          <p:cNvSpPr/>
          <p:nvPr/>
        </p:nvSpPr>
        <p:spPr>
          <a:xfrm>
            <a:off x="2350008" y="1508760"/>
            <a:ext cx="1993392" cy="105156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2. Features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9 numbers, no CNN</a:t>
            </a:r>
          </a:p>
        </p:txBody>
      </p:sp>
      <p:sp>
        <p:nvSpPr>
          <p:cNvPr id="6" name="Chevron 5"/>
          <p:cNvSpPr/>
          <p:nvPr/>
        </p:nvSpPr>
        <p:spPr>
          <a:xfrm>
            <a:off x="4288536" y="1508760"/>
            <a:ext cx="1993392" cy="105156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3. Seed labels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heuristic, not the model</a:t>
            </a:r>
          </a:p>
        </p:txBody>
      </p:sp>
      <p:sp>
        <p:nvSpPr>
          <p:cNvPr id="7" name="Chevron 6"/>
          <p:cNvSpPr/>
          <p:nvPr/>
        </p:nvSpPr>
        <p:spPr>
          <a:xfrm>
            <a:off x="6227064" y="1508760"/>
            <a:ext cx="1993392" cy="105156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4. Human GT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142 golden + 111 visual</a:t>
            </a:r>
          </a:p>
        </p:txBody>
      </p:sp>
      <p:sp>
        <p:nvSpPr>
          <p:cNvPr id="8" name="Chevron 7"/>
          <p:cNvSpPr/>
          <p:nvPr/>
        </p:nvSpPr>
        <p:spPr>
          <a:xfrm>
            <a:off x="8165592" y="1508760"/>
            <a:ext cx="1993392" cy="105156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5. Train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date-balanced 80/20</a:t>
            </a:r>
          </a:p>
        </p:txBody>
      </p:sp>
      <p:sp>
        <p:nvSpPr>
          <p:cNvPr id="9" name="Chevron 8"/>
          <p:cNvSpPr/>
          <p:nvPr/>
        </p:nvSpPr>
        <p:spPr>
          <a:xfrm>
            <a:off x="10104120" y="1508760"/>
            <a:ext cx="1993392" cy="105156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6. Ship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tiny JSON, Pages + 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11201400" cy="65836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80B9"/>
                </a:solidFill>
                <a:latin typeface="Helvetica Neue"/>
                <a:ea typeface="PingFang TC"/>
              </a:rPr>
              <a:t>Photo in</a:t>
            </a: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   HKO KFB webcam / USB dump. Crop top 8% timestamp, resize 640 px — same as the browser.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02152"/>
            <a:ext cx="11201400" cy="65836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80B9"/>
                </a:solidFill>
                <a:latin typeface="Helvetica Neue"/>
                <a:ea typeface="PingFang TC"/>
              </a:rPr>
              <a:t>Dedup</a:t>
            </a: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   Filename unique. Hourly overwrites the matching minute. Golden and 111 override both.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15384"/>
            <a:ext cx="11201400" cy="65836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0682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80B9"/>
                </a:solidFill>
                <a:latin typeface="Helvetica Neue"/>
                <a:ea typeface="PingFang TC"/>
              </a:rPr>
              <a:t>Weights</a:t>
            </a: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   (1 / n_frames on that YYMMDD) × 20 if human. Mean-normalized so April minutes cannot own the loss.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28616"/>
            <a:ext cx="11201400" cy="65836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20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80B9"/>
                </a:solidFill>
                <a:latin typeface="Helvetica Neue"/>
                <a:ea typeface="PingFang TC"/>
              </a:rPr>
              <a:t>Split hygiene</a:t>
            </a: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   GroupShuffleSplit by date, rs=42. Shipped JSON is the train-split fit — no full-data refit.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641848"/>
            <a:ext cx="11201400" cy="658368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33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80B9"/>
                </a:solidFill>
                <a:latin typeface="Helvetica Neue"/>
                <a:ea typeface="PingFang TC"/>
              </a:rPr>
              <a:t>Live loop</a:t>
            </a: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   GitHub Actions every ~5 min → live.json. Pages runs the same JSON if the feed is stale.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All train data combined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172,343 unique frames · 21,583 inside_cloud · 357 dates</a:t>
            </a:r>
          </a:p>
        </p:txBody>
      </p:sp>
      <p:pic>
        <p:nvPicPr>
          <p:cNvPr id="4" name="Picture 3" descr="update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309360" cy="29841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17320"/>
            <a:ext cx="4846320" cy="47091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4032" y="1600200"/>
            <a:ext cx="43891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How each set is used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Golden 142 (2016, human) — honest labels. Override any auto-label.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R5 hourly 8,101 (2023) — year-round seed. How May–Dec enter the model.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R5 extra minutes 163,989 (Jan–Apr) — denser time, down-weighted per date.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Review 111 — visual GT overrides. 20 on test dates.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F80B9"/>
                </a:solidFill>
                <a:latin typeface="Helvetica Neue"/>
                <a:ea typeface="PingFang TC"/>
              </a:rPr>
              <a:t>USB minutes stop 22 Apr. Date-balance is how we still keep a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How the 111 photos were labeled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review_r5/grid_01–13.jpg — judged against the project rule, then used as human overrides</a:t>
            </a:r>
          </a:p>
        </p:txBody>
      </p:sp>
      <p:pic>
        <p:nvPicPr>
          <p:cNvPr id="4" name="Picture 3" descr="grid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69748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498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7083"/>
                </a:solidFill>
                <a:latin typeface="Helvetica Neue"/>
                <a:ea typeface="PingFang TC"/>
              </a:rPr>
              <a:t>grid_01</a:t>
            </a:r>
          </a:p>
        </p:txBody>
      </p:sp>
      <p:pic>
        <p:nvPicPr>
          <p:cNvPr id="6" name="Picture 5" descr="grid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417320"/>
            <a:ext cx="269748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3280" y="4498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7083"/>
                </a:solidFill>
                <a:latin typeface="Helvetica Neue"/>
                <a:ea typeface="PingFang TC"/>
              </a:rPr>
              <a:t>grid_02</a:t>
            </a:r>
          </a:p>
        </p:txBody>
      </p:sp>
      <p:pic>
        <p:nvPicPr>
          <p:cNvPr id="8" name="Picture 7" descr="grid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269748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498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7083"/>
                </a:solidFill>
                <a:latin typeface="Helvetica Neue"/>
                <a:ea typeface="PingFang TC"/>
              </a:rPr>
              <a:t>grid_03</a:t>
            </a:r>
          </a:p>
        </p:txBody>
      </p:sp>
      <p:pic>
        <p:nvPicPr>
          <p:cNvPr id="10" name="Picture 9" descr="grid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417320"/>
            <a:ext cx="269748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449884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7083"/>
                </a:solidFill>
                <a:latin typeface="Helvetica Neue"/>
                <a:ea typeface="PingFang TC"/>
              </a:rPr>
              <a:t>grid_04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9204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02920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Label rule (same for day and night)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Day: washed-out textureless far field = inside; visible valley = not inside.  Night: lightless flat frame = inside; any valley lights = not inside.  Result: 57 inside / 54 not inside.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Date holdout — unseen 42,714 frames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GroupShuffleSplit 80/20 by YYMMDD · train-split fit, no full-data refit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95554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640080"/>
                <a:gridCol w="777240"/>
                <a:gridCol w="685800"/>
                <a:gridCol w="640080"/>
                <a:gridCol w="640080"/>
                <a:gridCol w="420624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Slice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Confusion [[TN,FP],[FN,TP]]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All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42714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97.8%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[[36926, 907], [19, 4862]]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Golden 2016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93.5%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0.824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[[36, 3], [0, 7]]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R5 hourly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[[1460, 47], [3, 126]]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111 on test dates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0.688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0.815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[[4, 5], [0, 11]]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Train (ref.)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129629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[[109314, 3613], [393, 16309]]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d413d74, same test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42714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0.856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0.996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0.921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[[37018, 815], [19, 4862]]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Read this carefully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Recall 0.996 on 42,714 unseen-date rows. Accuracy is tied with d413d74. Heuristic slices restates the rules that labeled most of the train set — trust golden and 111.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111 visual 2023 photos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Human overrides in the date split. Best 2023 eye-check we have.</a:t>
            </a:r>
          </a:p>
        </p:txBody>
      </p:sp>
      <p:pic>
        <p:nvPicPr>
          <p:cNvPr id="4" name="Picture 3" descr="update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937760" cy="4059936"/>
          </a:xfrm>
          <a:prstGeom prst="rect">
            <a:avLst/>
          </a:prstGeom>
        </p:spPr>
      </p:pic>
      <p:pic>
        <p:nvPicPr>
          <p:cNvPr id="5" name="Picture 4" descr="update_d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371600"/>
            <a:ext cx="6492240" cy="449462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4754880"/>
          <a:ext cx="969264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371600"/>
                <a:gridCol w="137160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42A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Heuristic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0.732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Previous d413d74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0.783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0.857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Combined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0.882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Final · day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0.964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0.943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0.971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Final ·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0.780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Final · 20 test dates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0.688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303C"/>
                          </a:solidFill>
                          <a:latin typeface="Helvetica Neue"/>
                        </a:defRPr>
                      </a:pPr>
                      <a:r>
                        <a:t>0.815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Day is the operational win — night is still the gap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111-photo split: 55 day / 56 night.</a:t>
            </a:r>
          </a:p>
        </p:txBody>
      </p:sp>
      <p:pic>
        <p:nvPicPr>
          <p:cNvPr id="4" name="Picture 3" descr="update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858000" cy="32485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417320"/>
            <a:ext cx="4343400" cy="47091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600200"/>
            <a:ext cx="3931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What changed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Day 94.5% → 96.4%.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Night 73.2% → 76.8% (precision 0.66).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111 overall 83.8% → 86.5% vs rules 73.0%.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•  20 held-out dates: 75.0% vs d413d74 70.0%.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F80B9"/>
                </a:solidFill>
                <a:latin typeface="Helvetica Neue"/>
                <a:ea typeface="PingFang TC"/>
              </a:rPr>
              <a:t>Night faint-light false alarms remain the process debt.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Where it still fails — and what to change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Minutes plus visual overrides lifted day. Night precision is still the debt.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532120" cy="324612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What improved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111-photo 83.8% → 86.5% vs rules 73.0%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Recall 0.98 — one missed inside-frame vs 3 / 16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Day 96.4% · night 76.8%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Golden-all 2016 95.1% → 96.5%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532120" cy="324612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00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What did not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Night precision still 0.66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20 held-out 111 dates: 75% — small n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USB minutes die 22 Apr — no May–Dec 1-minute coverage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Heuristic seed still dominates most train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0060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Next process steps (in order)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1. Hold the 111 fully out of the next fit.   2. Re-label night + borderline fog at full resolution.   3. If another USB year appears, extract it — keep date-balance.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Takeaways for this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743200" cy="214884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377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Shipped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42A3E"/>
                </a:solidFill>
                <a:latin typeface="Helvetica Neue"/>
                <a:ea typeface="PingFang TC"/>
              </a:rPr>
              <a:t>combined final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Helvetica Neue"/>
                <a:ea typeface="PingFang TC"/>
              </a:rPr>
              <a:t>Same JSON in models/ and docs/. Live Pages + Flask + CLI.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743200" cy="214884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554480"/>
            <a:ext cx="2377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Train rows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42A3E"/>
                </a:solidFill>
                <a:latin typeface="Helvetica Neue"/>
                <a:ea typeface="PingFang TC"/>
              </a:rPr>
              <a:t>172,343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Helvetica Neue"/>
                <a:ea typeface="PingFang TC"/>
              </a:rPr>
              <a:t>Unique frames. Human overrides heuristic. Date-balanced.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2743200" cy="214884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2377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Holdout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42A3E"/>
                </a:solidFill>
                <a:latin typeface="Helvetica Neue"/>
                <a:ea typeface="PingFang TC"/>
              </a:rPr>
              <a:t>97.8%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Helvetica Neue"/>
                <a:ea typeface="PingFang TC"/>
              </a:rPr>
              <a:t>42,714 unseen-date rows. Tied with d413d74.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417320"/>
            <a:ext cx="2743200" cy="214884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1554480"/>
            <a:ext cx="2377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111 visual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42A3E"/>
                </a:solidFill>
                <a:latin typeface="Helvetica Neue"/>
                <a:ea typeface="PingFang TC"/>
              </a:rPr>
              <a:t>86.5%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Helvetica Neue"/>
                <a:ea typeface="PingFang TC"/>
              </a:rPr>
              <a:t>Day 96.4% · night 76.8%.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11201400" cy="246888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One-sentence process update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303C"/>
                </a:solidFill>
                <a:latin typeface="Helvetica Neue"/>
                <a:ea typeface="PingFang TC"/>
              </a:rPr>
              <a:t>Every unique labeled KFB frame is now in the model, weighted so a January minute does not count more than a November hour, and so 253 human rows still speak. Unseen dates score 97.8% against seed labels and 86.5% against visual photos. Night labeling is still the next process.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7083"/>
                </a:solidFill>
                <a:latin typeface="Helvetica Neue"/>
                <a:ea typeface="PingFang TC"/>
              </a:rPr>
              <a:t>One photo, one answer: is the cloud base above or below 150 metres?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